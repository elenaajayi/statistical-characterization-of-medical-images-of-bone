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1" r:id="rId2"/>
    <p:sldId id="262" r:id="rId3"/>
    <p:sldId id="269" r:id="rId4"/>
    <p:sldId id="264" r:id="rId5"/>
    <p:sldId id="265" r:id="rId6"/>
    <p:sldId id="267" r:id="rId7"/>
    <p:sldId id="257" r:id="rId8"/>
    <p:sldId id="256" r:id="rId9"/>
    <p:sldId id="259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FDF87C-4A03-4817-8F45-D1B725C3ED33}" v="13" dt="2022-07-20T18:20:25.584"/>
    <p1510:client id="{30640A99-8B48-89EE-9580-897FA8009EDC}" v="462" dt="2022-07-21T18:12:05.162"/>
    <p1510:client id="{421FA699-7E09-9C18-CF22-D48749880150}" v="631" dt="2022-07-29T07:21:50.542"/>
    <p1510:client id="{49407599-3D6B-BF76-4B58-B5E3A595A0B6}" v="2349" dt="2022-07-21T20:49:56.969"/>
    <p1510:client id="{6623721B-73D2-0D20-F99D-1B68FE7C6E5E}" v="2250" dt="2022-07-28T00:15:33.130"/>
    <p1510:client id="{B0027FBF-8A2F-B121-49A1-4307DB37E896}" v="954" dt="2022-07-21T07:02:26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D06EB4-9428-4DD1-9388-8151F90AF50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54C8D6A-633E-4520-9AFB-F39B38B43D16}">
      <dgm:prSet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The visual system is tuned to characteristics of images in the real world</a:t>
          </a:r>
          <a:endParaRPr lang="en-US" dirty="0"/>
        </a:p>
      </dgm:t>
    </dgm:pt>
    <dgm:pt modelId="{8D1F013A-5706-4D8C-9409-EC126CC6B076}" type="parTrans" cxnId="{E99AEEED-5A0C-4838-9611-D37D72FFDCF0}">
      <dgm:prSet/>
      <dgm:spPr/>
      <dgm:t>
        <a:bodyPr/>
        <a:lstStyle/>
        <a:p>
          <a:endParaRPr lang="en-US"/>
        </a:p>
      </dgm:t>
    </dgm:pt>
    <dgm:pt modelId="{C484787D-FAB5-4E8C-B88E-DB7F482128E2}" type="sibTrans" cxnId="{E99AEEED-5A0C-4838-9611-D37D72FFDCF0}">
      <dgm:prSet/>
      <dgm:spPr/>
      <dgm:t>
        <a:bodyPr/>
        <a:lstStyle/>
        <a:p>
          <a:endParaRPr lang="en-US"/>
        </a:p>
      </dgm:t>
    </dgm:pt>
    <dgm:pt modelId="{B96F9849-98C3-4E65-9BA3-5F02C09720E0}">
      <dgm:prSet/>
      <dgm:spPr/>
      <dgm:t>
        <a:bodyPr/>
        <a:lstStyle/>
        <a:p>
          <a:pPr rtl="0"/>
          <a:r>
            <a:rPr lang="en-US" dirty="0"/>
            <a:t>Main Findings:</a:t>
          </a:r>
          <a:r>
            <a:rPr lang="en-US" dirty="0">
              <a:latin typeface="Calibri Light" panose="020F0302020204030204"/>
            </a:rPr>
            <a:t> </a:t>
          </a:r>
          <a:r>
            <a:rPr lang="en-US" dirty="0"/>
            <a:t>Select types of </a:t>
          </a:r>
          <a:r>
            <a:rPr lang="en-US" dirty="0">
              <a:latin typeface="Calibri Light" panose="020F0302020204030204"/>
            </a:rPr>
            <a:t>medical</a:t>
          </a:r>
          <a:r>
            <a:rPr lang="en-US" dirty="0"/>
            <a:t> </a:t>
          </a:r>
          <a:r>
            <a:rPr lang="en-US" dirty="0">
              <a:latin typeface="Calibri Light" panose="020F0302020204030204"/>
            </a:rPr>
            <a:t>images</a:t>
          </a:r>
          <a:r>
            <a:rPr lang="en-US" dirty="0"/>
            <a:t> differ in their characteristics (ex. </a:t>
          </a:r>
          <a:r>
            <a:rPr lang="en-US" b="1" dirty="0">
              <a:latin typeface="Calibri Light" panose="020F0302020204030204"/>
            </a:rPr>
            <a:t>power spectrum</a:t>
          </a:r>
          <a:r>
            <a:rPr lang="en-US" b="1" dirty="0"/>
            <a:t>)</a:t>
          </a:r>
        </a:p>
      </dgm:t>
    </dgm:pt>
    <dgm:pt modelId="{5D3E06C8-95F8-4972-BC3D-B8DB346CE7C8}" type="parTrans" cxnId="{D7EDD798-5BCD-4F26-B667-53EE51E3CA15}">
      <dgm:prSet/>
      <dgm:spPr/>
      <dgm:t>
        <a:bodyPr/>
        <a:lstStyle/>
        <a:p>
          <a:endParaRPr lang="en-US"/>
        </a:p>
      </dgm:t>
    </dgm:pt>
    <dgm:pt modelId="{AA2A25D7-1096-4050-8180-A6C603A9B41E}" type="sibTrans" cxnId="{D7EDD798-5BCD-4F26-B667-53EE51E3CA15}">
      <dgm:prSet/>
      <dgm:spPr/>
      <dgm:t>
        <a:bodyPr/>
        <a:lstStyle/>
        <a:p>
          <a:endParaRPr lang="en-US"/>
        </a:p>
      </dgm:t>
    </dgm:pt>
    <dgm:pt modelId="{7CB0F9FB-B0B7-4BD8-986E-B0E5730526B2}">
      <dgm:prSet/>
      <dgm:spPr/>
      <dgm:t>
        <a:bodyPr/>
        <a:lstStyle/>
        <a:p>
          <a:r>
            <a:rPr lang="en-US" dirty="0"/>
            <a:t>What are the future directions with this research?</a:t>
          </a:r>
        </a:p>
      </dgm:t>
    </dgm:pt>
    <dgm:pt modelId="{2A1C8675-7226-4218-9B14-C74611BF993E}" type="parTrans" cxnId="{CBC04540-F328-4F3B-8FE7-892A3B068D53}">
      <dgm:prSet/>
      <dgm:spPr/>
      <dgm:t>
        <a:bodyPr/>
        <a:lstStyle/>
        <a:p>
          <a:endParaRPr lang="en-US"/>
        </a:p>
      </dgm:t>
    </dgm:pt>
    <dgm:pt modelId="{1759D965-0309-4817-A17E-0DB1549F1677}" type="sibTrans" cxnId="{CBC04540-F328-4F3B-8FE7-892A3B068D53}">
      <dgm:prSet/>
      <dgm:spPr/>
      <dgm:t>
        <a:bodyPr/>
        <a:lstStyle/>
        <a:p>
          <a:endParaRPr lang="en-US"/>
        </a:p>
      </dgm:t>
    </dgm:pt>
    <dgm:pt modelId="{B88A893D-B45C-4DB2-81E5-8543A6B2FC84}" type="pres">
      <dgm:prSet presAssocID="{35D06EB4-9428-4DD1-9388-8151F90AF505}" presName="linear" presStyleCnt="0">
        <dgm:presLayoutVars>
          <dgm:animLvl val="lvl"/>
          <dgm:resizeHandles val="exact"/>
        </dgm:presLayoutVars>
      </dgm:prSet>
      <dgm:spPr/>
    </dgm:pt>
    <dgm:pt modelId="{0429EC56-2755-4245-BCE5-94C96A655BA0}" type="pres">
      <dgm:prSet presAssocID="{154C8D6A-633E-4520-9AFB-F39B38B43D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143BEC8-611B-42D0-B0CA-6C21E95668B2}" type="pres">
      <dgm:prSet presAssocID="{C484787D-FAB5-4E8C-B88E-DB7F482128E2}" presName="spacer" presStyleCnt="0"/>
      <dgm:spPr/>
    </dgm:pt>
    <dgm:pt modelId="{F48D3EE8-C5BC-45A4-9B38-C6840FEEBF40}" type="pres">
      <dgm:prSet presAssocID="{B96F9849-98C3-4E65-9BA3-5F02C09720E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5490405-2C8E-4EB3-826E-20B3DB5CC780}" type="pres">
      <dgm:prSet presAssocID="{AA2A25D7-1096-4050-8180-A6C603A9B41E}" presName="spacer" presStyleCnt="0"/>
      <dgm:spPr/>
    </dgm:pt>
    <dgm:pt modelId="{B0CBCCF1-4B16-472C-BACA-45E65FAEAF22}" type="pres">
      <dgm:prSet presAssocID="{7CB0F9FB-B0B7-4BD8-986E-B0E5730526B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DA34335-B858-4059-999E-7E52F696E45C}" type="presOf" srcId="{7CB0F9FB-B0B7-4BD8-986E-B0E5730526B2}" destId="{B0CBCCF1-4B16-472C-BACA-45E65FAEAF22}" srcOrd="0" destOrd="0" presId="urn:microsoft.com/office/officeart/2005/8/layout/vList2"/>
    <dgm:cxn modelId="{96EB883B-32B4-4A8B-8900-71F825C72CFF}" type="presOf" srcId="{B96F9849-98C3-4E65-9BA3-5F02C09720E0}" destId="{F48D3EE8-C5BC-45A4-9B38-C6840FEEBF40}" srcOrd="0" destOrd="0" presId="urn:microsoft.com/office/officeart/2005/8/layout/vList2"/>
    <dgm:cxn modelId="{CBC04540-F328-4F3B-8FE7-892A3B068D53}" srcId="{35D06EB4-9428-4DD1-9388-8151F90AF505}" destId="{7CB0F9FB-B0B7-4BD8-986E-B0E5730526B2}" srcOrd="2" destOrd="0" parTransId="{2A1C8675-7226-4218-9B14-C74611BF993E}" sibTransId="{1759D965-0309-4817-A17E-0DB1549F1677}"/>
    <dgm:cxn modelId="{3C24BD44-CCE1-46A5-8191-81A4D432957C}" type="presOf" srcId="{35D06EB4-9428-4DD1-9388-8151F90AF505}" destId="{B88A893D-B45C-4DB2-81E5-8543A6B2FC84}" srcOrd="0" destOrd="0" presId="urn:microsoft.com/office/officeart/2005/8/layout/vList2"/>
    <dgm:cxn modelId="{D7EDD798-5BCD-4F26-B667-53EE51E3CA15}" srcId="{35D06EB4-9428-4DD1-9388-8151F90AF505}" destId="{B96F9849-98C3-4E65-9BA3-5F02C09720E0}" srcOrd="1" destOrd="0" parTransId="{5D3E06C8-95F8-4972-BC3D-B8DB346CE7C8}" sibTransId="{AA2A25D7-1096-4050-8180-A6C603A9B41E}"/>
    <dgm:cxn modelId="{69B32CE3-70F5-460C-BD64-AB651868BA62}" type="presOf" srcId="{154C8D6A-633E-4520-9AFB-F39B38B43D16}" destId="{0429EC56-2755-4245-BCE5-94C96A655BA0}" srcOrd="0" destOrd="0" presId="urn:microsoft.com/office/officeart/2005/8/layout/vList2"/>
    <dgm:cxn modelId="{E99AEEED-5A0C-4838-9611-D37D72FFDCF0}" srcId="{35D06EB4-9428-4DD1-9388-8151F90AF505}" destId="{154C8D6A-633E-4520-9AFB-F39B38B43D16}" srcOrd="0" destOrd="0" parTransId="{8D1F013A-5706-4D8C-9409-EC126CC6B076}" sibTransId="{C484787D-FAB5-4E8C-B88E-DB7F482128E2}"/>
    <dgm:cxn modelId="{6169CB34-A82F-42CA-8E72-A30F49FB5F37}" type="presParOf" srcId="{B88A893D-B45C-4DB2-81E5-8543A6B2FC84}" destId="{0429EC56-2755-4245-BCE5-94C96A655BA0}" srcOrd="0" destOrd="0" presId="urn:microsoft.com/office/officeart/2005/8/layout/vList2"/>
    <dgm:cxn modelId="{772225CC-60CE-4710-96C1-C57CC4C27E38}" type="presParOf" srcId="{B88A893D-B45C-4DB2-81E5-8543A6B2FC84}" destId="{8143BEC8-611B-42D0-B0CA-6C21E95668B2}" srcOrd="1" destOrd="0" presId="urn:microsoft.com/office/officeart/2005/8/layout/vList2"/>
    <dgm:cxn modelId="{A69C7D21-99A4-49E1-A06E-DD8A166BD420}" type="presParOf" srcId="{B88A893D-B45C-4DB2-81E5-8543A6B2FC84}" destId="{F48D3EE8-C5BC-45A4-9B38-C6840FEEBF40}" srcOrd="2" destOrd="0" presId="urn:microsoft.com/office/officeart/2005/8/layout/vList2"/>
    <dgm:cxn modelId="{93409F4A-CEB4-49D8-B0C5-47DCE8792805}" type="presParOf" srcId="{B88A893D-B45C-4DB2-81E5-8543A6B2FC84}" destId="{25490405-2C8E-4EB3-826E-20B3DB5CC780}" srcOrd="3" destOrd="0" presId="urn:microsoft.com/office/officeart/2005/8/layout/vList2"/>
    <dgm:cxn modelId="{E4F8650D-DA7C-42F3-8A89-E381C9D28A34}" type="presParOf" srcId="{B88A893D-B45C-4DB2-81E5-8543A6B2FC84}" destId="{B0CBCCF1-4B16-472C-BACA-45E65FAEAF2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9EC56-2755-4245-BCE5-94C96A655BA0}">
      <dsp:nvSpPr>
        <dsp:cNvPr id="0" name=""/>
        <dsp:cNvSpPr/>
      </dsp:nvSpPr>
      <dsp:spPr>
        <a:xfrm>
          <a:off x="0" y="293089"/>
          <a:ext cx="6301601" cy="17046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Calibri Light" panose="020F0302020204030204"/>
            </a:rPr>
            <a:t>The visual system is tuned to characteristics of images in the real world</a:t>
          </a:r>
          <a:endParaRPr lang="en-US" sz="3100" kern="1200" dirty="0"/>
        </a:p>
      </dsp:txBody>
      <dsp:txXfrm>
        <a:off x="83216" y="376305"/>
        <a:ext cx="6135169" cy="1538258"/>
      </dsp:txXfrm>
    </dsp:sp>
    <dsp:sp modelId="{F48D3EE8-C5BC-45A4-9B38-C6840FEEBF40}">
      <dsp:nvSpPr>
        <dsp:cNvPr id="0" name=""/>
        <dsp:cNvSpPr/>
      </dsp:nvSpPr>
      <dsp:spPr>
        <a:xfrm>
          <a:off x="0" y="2087059"/>
          <a:ext cx="6301601" cy="170469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Main Findings:</a:t>
          </a:r>
          <a:r>
            <a:rPr lang="en-US" sz="3100" kern="1200" dirty="0">
              <a:latin typeface="Calibri Light" panose="020F0302020204030204"/>
            </a:rPr>
            <a:t> </a:t>
          </a:r>
          <a:r>
            <a:rPr lang="en-US" sz="3100" kern="1200" dirty="0"/>
            <a:t>Select types of </a:t>
          </a:r>
          <a:r>
            <a:rPr lang="en-US" sz="3100" kern="1200" dirty="0">
              <a:latin typeface="Calibri Light" panose="020F0302020204030204"/>
            </a:rPr>
            <a:t>medical</a:t>
          </a:r>
          <a:r>
            <a:rPr lang="en-US" sz="3100" kern="1200" dirty="0"/>
            <a:t> </a:t>
          </a:r>
          <a:r>
            <a:rPr lang="en-US" sz="3100" kern="1200" dirty="0">
              <a:latin typeface="Calibri Light" panose="020F0302020204030204"/>
            </a:rPr>
            <a:t>images</a:t>
          </a:r>
          <a:r>
            <a:rPr lang="en-US" sz="3100" kern="1200" dirty="0"/>
            <a:t> differ in their characteristics (ex. </a:t>
          </a:r>
          <a:r>
            <a:rPr lang="en-US" sz="3100" b="1" kern="1200" dirty="0">
              <a:latin typeface="Calibri Light" panose="020F0302020204030204"/>
            </a:rPr>
            <a:t>power spectrum</a:t>
          </a:r>
          <a:r>
            <a:rPr lang="en-US" sz="3100" b="1" kern="1200" dirty="0"/>
            <a:t>)</a:t>
          </a:r>
        </a:p>
      </dsp:txBody>
      <dsp:txXfrm>
        <a:off x="83216" y="2170275"/>
        <a:ext cx="6135169" cy="1538258"/>
      </dsp:txXfrm>
    </dsp:sp>
    <dsp:sp modelId="{B0CBCCF1-4B16-472C-BACA-45E65FAEAF22}">
      <dsp:nvSpPr>
        <dsp:cNvPr id="0" name=""/>
        <dsp:cNvSpPr/>
      </dsp:nvSpPr>
      <dsp:spPr>
        <a:xfrm>
          <a:off x="0" y="3881029"/>
          <a:ext cx="6301601" cy="170469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What are the future directions with this research?</a:t>
          </a:r>
        </a:p>
      </dsp:txBody>
      <dsp:txXfrm>
        <a:off x="83216" y="3964245"/>
        <a:ext cx="6135169" cy="15382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DC1F7-B866-4CA3-BAA4-82D55B332C1E}" type="datetimeFigureOut">
              <a:t>7/28/2022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667B0-290E-4A12-951E-407C63C1E6C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4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Fix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667B0-290E-4A12-951E-407C63C1E6C5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17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A scintigraphy uses radio active decay to determine lesions of interest. </a:t>
            </a:r>
          </a:p>
          <a:p>
            <a:r>
              <a:rPr lang="en-US" dirty="0">
                <a:cs typeface="Calibri"/>
              </a:rPr>
              <a:t>An Xray used x-rays penetrate objects to show organs and bone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667B0-290E-4A12-951E-407C63C1E6C5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932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Power spectra here is –3, hence the way our visual system will interpret it is at 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667B0-290E-4A12-951E-407C63C1E6C5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27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8333BA-AE6E-427A-9B16-A39C8073F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/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947D3-D8AC-F38B-4AA0-8B2FDB224BF0}"/>
              </a:ext>
            </a:extLst>
          </p:cNvPr>
          <p:cNvSpPr txBox="1"/>
          <p:nvPr/>
        </p:nvSpPr>
        <p:spPr>
          <a:xfrm>
            <a:off x="838200" y="678084"/>
            <a:ext cx="10889411" cy="574300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500" dirty="0"/>
              <a:t>              </a:t>
            </a:r>
            <a:r>
              <a:rPr lang="en-US" sz="2500" b="1" dirty="0"/>
              <a:t>The Role of Visual Perception in Medical Imaging Interpretation</a:t>
            </a:r>
            <a:endParaRPr lang="en-US" sz="2500" b="1" dirty="0"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500" dirty="0"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500" i="1" dirty="0"/>
              <a:t>                                          LANS 2022</a:t>
            </a:r>
            <a:endParaRPr lang="en-US" sz="2500" i="1" dirty="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500" i="1" dirty="0"/>
              <a:t>                                          Hartford, CT</a:t>
            </a:r>
            <a:endParaRPr lang="en-US" sz="25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5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500" b="1" dirty="0"/>
              <a:t>               Presenter:</a:t>
            </a:r>
            <a:r>
              <a:rPr lang="en-US" sz="2500" dirty="0"/>
              <a:t> Elena Ajayi</a:t>
            </a:r>
            <a:endParaRPr lang="en-US" sz="2500" dirty="0"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500" b="1" dirty="0"/>
              <a:t>               Mentor: </a:t>
            </a:r>
            <a:r>
              <a:rPr lang="en-US" sz="2500" dirty="0"/>
              <a:t>Dr.</a:t>
            </a:r>
            <a:r>
              <a:rPr lang="en-US" sz="2500" b="1" dirty="0"/>
              <a:t> </a:t>
            </a:r>
            <a:r>
              <a:rPr lang="en-US" sz="2500" dirty="0"/>
              <a:t>Jonathan D. Victor</a:t>
            </a:r>
            <a:endParaRPr lang="en-US" sz="2500" dirty="0"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500" dirty="0"/>
              <a:t>               Weill Cornell Medicine</a:t>
            </a:r>
            <a:endParaRPr lang="en-US" sz="2500" dirty="0"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500" dirty="0"/>
              <a:t>                                                                            </a:t>
            </a:r>
            <a:endParaRPr lang="en-US" sz="250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500" dirty="0"/>
              <a:t>                                    </a:t>
            </a:r>
            <a:endParaRPr lang="en-US" sz="2500" dirty="0"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C67637-E93F-C367-99B5-34A4BC169EDA}"/>
              </a:ext>
            </a:extLst>
          </p:cNvPr>
          <p:cNvSpPr txBox="1"/>
          <p:nvPr/>
        </p:nvSpPr>
        <p:spPr>
          <a:xfrm flipV="1">
            <a:off x="5370654" y="3600289"/>
            <a:ext cx="4093576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500" dirty="0"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A83D6-BAB2-C3DB-D788-DCEF84602895}"/>
              </a:ext>
            </a:extLst>
          </p:cNvPr>
          <p:cNvSpPr txBox="1"/>
          <p:nvPr/>
        </p:nvSpPr>
        <p:spPr>
          <a:xfrm>
            <a:off x="5557795" y="5508514"/>
            <a:ext cx="64472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>
              <a:cs typeface="Calibri"/>
            </a:endParaRPr>
          </a:p>
        </p:txBody>
      </p:sp>
      <p:pic>
        <p:nvPicPr>
          <p:cNvPr id="5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F036B7C5-7E50-9FD1-BBA2-EDB948FF5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797" y="5920447"/>
            <a:ext cx="3164005" cy="66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06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503D0-6FF6-E7F0-46E5-D8AFD2F81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cs typeface="Calibri Light"/>
              </a:rPr>
              <a:t>Plan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B3967D-091A-1847-F489-E05F5D2305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184504"/>
              </p:ext>
            </p:extLst>
          </p:nvPr>
        </p:nvGraphicFramePr>
        <p:xfrm>
          <a:off x="5474493" y="371439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41EF5003-DCF6-A0DE-055C-C79BCBDF11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3949" y="6238576"/>
            <a:ext cx="2743200" cy="56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8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7DEE-A706-7637-6E80-D774E4E1B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720" y="110625"/>
            <a:ext cx="8711135" cy="1015485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 Light"/>
              </a:rPr>
              <a:t>Methods (Pipeline of Research Project)</a:t>
            </a:r>
            <a:endParaRPr lang="en-US" dirty="0"/>
          </a:p>
        </p:txBody>
      </p:sp>
      <p:pic>
        <p:nvPicPr>
          <p:cNvPr id="3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64897B55-EA35-B48E-4A57-38DCA78E1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3654" y="6174823"/>
            <a:ext cx="2743200" cy="5627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92AB38-934D-00EC-3B5C-59A2EC392C83}"/>
              </a:ext>
            </a:extLst>
          </p:cNvPr>
          <p:cNvSpPr txBox="1"/>
          <p:nvPr/>
        </p:nvSpPr>
        <p:spPr>
          <a:xfrm>
            <a:off x="493551" y="1094824"/>
            <a:ext cx="24452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cs typeface="Calibri"/>
              </a:rPr>
              <a:t>Public Database  </a:t>
            </a:r>
          </a:p>
        </p:txBody>
      </p:sp>
      <p:pic>
        <p:nvPicPr>
          <p:cNvPr id="11" name="Graphic 11" descr="Arrow Right outline">
            <a:extLst>
              <a:ext uri="{FF2B5EF4-FFF2-40B4-BE49-F238E27FC236}">
                <a16:creationId xmlns:a16="http://schemas.microsoft.com/office/drawing/2014/main" id="{940C9E89-17B6-CE4B-1F85-FFFB5F3AB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7428" y="1002124"/>
            <a:ext cx="721057" cy="72105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BE4BF3-BA20-D207-01A7-675C0ADA8E45}"/>
              </a:ext>
            </a:extLst>
          </p:cNvPr>
          <p:cNvSpPr txBox="1"/>
          <p:nvPr/>
        </p:nvSpPr>
        <p:spPr>
          <a:xfrm>
            <a:off x="3500833" y="1091820"/>
            <a:ext cx="25873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cs typeface="Calibri"/>
              </a:rPr>
              <a:t>Select Images</a:t>
            </a:r>
          </a:p>
        </p:txBody>
      </p:sp>
      <p:pic>
        <p:nvPicPr>
          <p:cNvPr id="15" name="Graphic 11" descr="Arrow Right outline">
            <a:extLst>
              <a:ext uri="{FF2B5EF4-FFF2-40B4-BE49-F238E27FC236}">
                <a16:creationId xmlns:a16="http://schemas.microsoft.com/office/drawing/2014/main" id="{35DDF32D-0CCB-AC05-3C62-6B62D4F0E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2820" y="995300"/>
            <a:ext cx="721057" cy="7210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7D51A61-FFD1-E999-2534-3B5C2039C884}"/>
              </a:ext>
            </a:extLst>
          </p:cNvPr>
          <p:cNvSpPr txBox="1"/>
          <p:nvPr/>
        </p:nvSpPr>
        <p:spPr>
          <a:xfrm>
            <a:off x="6126095" y="1117893"/>
            <a:ext cx="24025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cs typeface="Calibri"/>
              </a:rPr>
              <a:t>Select ROIs</a:t>
            </a:r>
          </a:p>
        </p:txBody>
      </p:sp>
      <p:pic>
        <p:nvPicPr>
          <p:cNvPr id="17" name="Graphic 17" descr="Arrow Right outline">
            <a:extLst>
              <a:ext uri="{FF2B5EF4-FFF2-40B4-BE49-F238E27FC236}">
                <a16:creationId xmlns:a16="http://schemas.microsoft.com/office/drawing/2014/main" id="{D584AD84-F284-305C-1C4D-D63943115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4588" y="855324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99EE911-9A65-74DC-B2C1-14BBF04C9D8E}"/>
              </a:ext>
            </a:extLst>
          </p:cNvPr>
          <p:cNvSpPr txBox="1"/>
          <p:nvPr/>
        </p:nvSpPr>
        <p:spPr>
          <a:xfrm>
            <a:off x="8678505" y="1081824"/>
            <a:ext cx="225592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cs typeface="Calibri"/>
              </a:rPr>
              <a:t>Make Patches</a:t>
            </a:r>
          </a:p>
        </p:txBody>
      </p:sp>
      <p:pic>
        <p:nvPicPr>
          <p:cNvPr id="19" name="Graphic 19" descr="Arrow Down outline">
            <a:extLst>
              <a:ext uri="{FF2B5EF4-FFF2-40B4-BE49-F238E27FC236}">
                <a16:creationId xmlns:a16="http://schemas.microsoft.com/office/drawing/2014/main" id="{55CD5170-DD4B-13CF-F62B-9A206F03E6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6442" y="1538785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37A5B6-2F79-8DF3-30C5-3F371209E432}"/>
              </a:ext>
            </a:extLst>
          </p:cNvPr>
          <p:cNvSpPr txBox="1"/>
          <p:nvPr/>
        </p:nvSpPr>
        <p:spPr>
          <a:xfrm flipH="1">
            <a:off x="8697765" y="2573332"/>
            <a:ext cx="25774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cs typeface="Calibri"/>
              </a:rPr>
              <a:t>Mean Subtraction</a:t>
            </a:r>
          </a:p>
        </p:txBody>
      </p:sp>
      <p:pic>
        <p:nvPicPr>
          <p:cNvPr id="21" name="Graphic 21" descr="Line arrow: Straight outline">
            <a:extLst>
              <a:ext uri="{FF2B5EF4-FFF2-40B4-BE49-F238E27FC236}">
                <a16:creationId xmlns:a16="http://schemas.microsoft.com/office/drawing/2014/main" id="{4E528643-8B45-5D0D-BD9D-60A4905CCF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6949" y="2357651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8F343E0-523D-47C5-DE8A-0AABF6D42C36}"/>
              </a:ext>
            </a:extLst>
          </p:cNvPr>
          <p:cNvSpPr txBox="1"/>
          <p:nvPr/>
        </p:nvSpPr>
        <p:spPr>
          <a:xfrm>
            <a:off x="6111021" y="2583309"/>
            <a:ext cx="173440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cs typeface="Calibri"/>
              </a:rPr>
              <a:t>Windowing</a:t>
            </a:r>
            <a:endParaRPr lang="en-US" b="1">
              <a:cs typeface="Calibri"/>
            </a:endParaRPr>
          </a:p>
        </p:txBody>
      </p:sp>
      <p:pic>
        <p:nvPicPr>
          <p:cNvPr id="23" name="Graphic 23" descr="Line arrow: Straight outline">
            <a:extLst>
              <a:ext uri="{FF2B5EF4-FFF2-40B4-BE49-F238E27FC236}">
                <a16:creationId xmlns:a16="http://schemas.microsoft.com/office/drawing/2014/main" id="{F4868718-0A1F-A872-03B8-1812529C6B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6620" y="2357651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E71589C-C0D7-D125-AE82-878E8215B1D3}"/>
              </a:ext>
            </a:extLst>
          </p:cNvPr>
          <p:cNvSpPr txBox="1"/>
          <p:nvPr/>
        </p:nvSpPr>
        <p:spPr>
          <a:xfrm>
            <a:off x="3694336" y="2589480"/>
            <a:ext cx="201873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cs typeface="Calibri"/>
              </a:rPr>
              <a:t>"Padding"</a:t>
            </a:r>
            <a:endParaRPr lang="en-US" b="1">
              <a:cs typeface="Calibri"/>
            </a:endParaRPr>
          </a:p>
        </p:txBody>
      </p:sp>
      <p:pic>
        <p:nvPicPr>
          <p:cNvPr id="25" name="Graphic 25" descr="Line arrow: Straight outline">
            <a:extLst>
              <a:ext uri="{FF2B5EF4-FFF2-40B4-BE49-F238E27FC236}">
                <a16:creationId xmlns:a16="http://schemas.microsoft.com/office/drawing/2014/main" id="{5B944943-BA64-7986-6CCE-ED22441A6C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35215" y="2367951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0451185-5404-2C0A-AD97-BC27EF6B8AF4}"/>
              </a:ext>
            </a:extLst>
          </p:cNvPr>
          <p:cNvSpPr txBox="1"/>
          <p:nvPr/>
        </p:nvSpPr>
        <p:spPr>
          <a:xfrm>
            <a:off x="385162" y="2362047"/>
            <a:ext cx="257297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cs typeface="Calibri"/>
              </a:rPr>
              <a:t>Calculate Fast Fourier Transform</a:t>
            </a:r>
          </a:p>
        </p:txBody>
      </p:sp>
      <p:pic>
        <p:nvPicPr>
          <p:cNvPr id="27" name="Graphic 27" descr="Arrow Down outline">
            <a:extLst>
              <a:ext uri="{FF2B5EF4-FFF2-40B4-BE49-F238E27FC236}">
                <a16:creationId xmlns:a16="http://schemas.microsoft.com/office/drawing/2014/main" id="{DBAE8642-752A-442B-0FDE-71177EF575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2423" y="3273725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D850B85-269B-D358-5E98-AF6304D61BEA}"/>
              </a:ext>
            </a:extLst>
          </p:cNvPr>
          <p:cNvSpPr txBox="1"/>
          <p:nvPr/>
        </p:nvSpPr>
        <p:spPr>
          <a:xfrm>
            <a:off x="375986" y="4436645"/>
            <a:ext cx="238125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cs typeface="Calibri"/>
              </a:rPr>
              <a:t>Calculate Power Spectrum</a:t>
            </a:r>
          </a:p>
        </p:txBody>
      </p:sp>
      <p:pic>
        <p:nvPicPr>
          <p:cNvPr id="29" name="Graphic 17" descr="Arrow Right outline">
            <a:extLst>
              <a:ext uri="{FF2B5EF4-FFF2-40B4-BE49-F238E27FC236}">
                <a16:creationId xmlns:a16="http://schemas.microsoft.com/office/drawing/2014/main" id="{6099A45F-2C73-A202-3F60-E3980E133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1267" y="4392153"/>
            <a:ext cx="914400" cy="9144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85E5129-7E82-C340-1953-490E18DAE33C}"/>
              </a:ext>
            </a:extLst>
          </p:cNvPr>
          <p:cNvSpPr txBox="1"/>
          <p:nvPr/>
        </p:nvSpPr>
        <p:spPr>
          <a:xfrm>
            <a:off x="3837619" y="4623929"/>
            <a:ext cx="23812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cs typeface="Calibri"/>
              </a:rPr>
              <a:t>Whitening</a:t>
            </a:r>
          </a:p>
        </p:txBody>
      </p:sp>
    </p:spTree>
    <p:extLst>
      <p:ext uri="{BB962C8B-B14F-4D97-AF65-F5344CB8AC3E}">
        <p14:creationId xmlns:p14="http://schemas.microsoft.com/office/powerpoint/2010/main" val="128076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87B594-A922-B3F9-2684-832F11D05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78" y="201151"/>
            <a:ext cx="11345118" cy="2068271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500" dirty="0">
                <a:ea typeface="+mj-lt"/>
                <a:cs typeface="+mj-lt"/>
              </a:rPr>
              <a:t>The visual system is tuned to characteristics of images in the real world</a:t>
            </a:r>
            <a:endParaRPr lang="en-US" sz="4500"/>
          </a:p>
          <a:p>
            <a:endParaRPr lang="en-US" sz="4200" dirty="0">
              <a:cs typeface="Calibri Light"/>
            </a:endParaRP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85E30-AB01-E2BA-CB31-EF1E24951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endParaRPr lang="en-US" sz="2200" dirty="0">
              <a:cs typeface="Calibri"/>
            </a:endParaRPr>
          </a:p>
          <a:p>
            <a:r>
              <a:rPr lang="en-US" sz="2200" dirty="0">
                <a:cs typeface="Calibri"/>
              </a:rPr>
              <a:t>Barlow's principle of efficient coding</a:t>
            </a:r>
          </a:p>
          <a:p>
            <a:r>
              <a:rPr lang="en-US" sz="2200" dirty="0">
                <a:cs typeface="Calibri"/>
              </a:rPr>
              <a:t>What are some of these characteristics?</a:t>
            </a:r>
            <a:endParaRPr lang="en-US" sz="2200" dirty="0">
              <a:ea typeface="+mn-lt"/>
              <a:cs typeface="+mn-lt"/>
            </a:endParaRPr>
          </a:p>
          <a:p>
            <a:pPr lvl="3"/>
            <a:r>
              <a:rPr lang="en-US" sz="2000" dirty="0">
                <a:ea typeface="+mn-lt"/>
                <a:cs typeface="+mn-lt"/>
              </a:rPr>
              <a:t>Objects are usually not transparent; they block out what is behind them.</a:t>
            </a:r>
          </a:p>
          <a:p>
            <a:pPr lvl="3"/>
            <a:r>
              <a:rPr lang="en-US" sz="2000" dirty="0">
                <a:ea typeface="+mn-lt"/>
                <a:cs typeface="+mn-lt"/>
              </a:rPr>
              <a:t>Natural scenes typically one main light source, and objects differ in their reflectance.</a:t>
            </a:r>
          </a:p>
          <a:p>
            <a:pPr lvl="3"/>
            <a:r>
              <a:rPr lang="en-US" sz="2000" dirty="0">
                <a:ea typeface="+mn-lt"/>
                <a:cs typeface="+mn-lt"/>
              </a:rPr>
              <a:t>Objects in the natural scene can be viewed from any distance.</a:t>
            </a:r>
          </a:p>
          <a:p>
            <a:pPr lvl="3"/>
            <a:r>
              <a:rPr lang="en-US" sz="2000" dirty="0">
                <a:ea typeface="+mn-lt"/>
                <a:cs typeface="+mn-lt"/>
              </a:rPr>
              <a:t>Edges are important in defining object shape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2200" dirty="0">
                <a:ea typeface="+mn-lt"/>
                <a:cs typeface="+mn-lt"/>
              </a:rPr>
              <a:t>A consequence is that nearby points in a natural image are correlated</a:t>
            </a:r>
          </a:p>
          <a:p>
            <a:pPr lvl="3" indent="0"/>
            <a:r>
              <a:rPr lang="en-US" sz="2000" dirty="0">
                <a:cs typeface="Calibri"/>
              </a:rPr>
              <a:t>Correlation</a:t>
            </a:r>
            <a:r>
              <a:rPr lang="en-US" sz="2000" dirty="0">
                <a:ea typeface="+mn-lt"/>
                <a:cs typeface="+mn-lt"/>
              </a:rPr>
              <a:t> leads to redundancy and hence inefficiency</a:t>
            </a:r>
          </a:p>
          <a:p>
            <a:pPr lvl="1"/>
            <a:r>
              <a:rPr lang="en-US" sz="2200" dirty="0">
                <a:ea typeface="+mn-lt"/>
                <a:cs typeface="+mn-lt"/>
              </a:rPr>
              <a:t>Retinal processing removes this redundancy</a:t>
            </a:r>
            <a:endParaRPr lang="en-US" sz="2200">
              <a:cs typeface="Calibri" panose="020F0502020204030204"/>
            </a:endParaRPr>
          </a:p>
          <a:p>
            <a:pPr lvl="3"/>
            <a:r>
              <a:rPr lang="en-US" sz="2000" dirty="0">
                <a:cs typeface="Calibri"/>
              </a:rPr>
              <a:t>This redundancy removal is only effective for the specific pattern of correlations in natural scenes</a:t>
            </a:r>
          </a:p>
          <a:p>
            <a:pPr lvl="3"/>
            <a:endParaRPr lang="en-US" sz="2200">
              <a:cs typeface="Calibri"/>
            </a:endParaRPr>
          </a:p>
          <a:p>
            <a:endParaRPr lang="en-US" sz="2200">
              <a:cs typeface="Calibri"/>
            </a:endParaRPr>
          </a:p>
          <a:p>
            <a:endParaRPr lang="en-US" sz="2200">
              <a:cs typeface="Calibri"/>
            </a:endParaRPr>
          </a:p>
          <a:p>
            <a:pPr lvl="1"/>
            <a:endParaRPr lang="en-US" sz="2200">
              <a:cs typeface="Calibri"/>
            </a:endParaRPr>
          </a:p>
        </p:txBody>
      </p:sp>
      <p:pic>
        <p:nvPicPr>
          <p:cNvPr id="4" name="Picture 4" descr="Logo&#10;&#10;Description automatically generated">
            <a:extLst>
              <a:ext uri="{FF2B5EF4-FFF2-40B4-BE49-F238E27FC236}">
                <a16:creationId xmlns:a16="http://schemas.microsoft.com/office/drawing/2014/main" id="{588438C6-F368-F9E8-87C2-66F41B12F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907" y="5976271"/>
            <a:ext cx="2743200" cy="97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31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57C4E-444A-01B4-2E16-FAFC6C5F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533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dirty="0">
                <a:cs typeface="Calibri Light"/>
              </a:rPr>
              <a:t>Image Sets </a:t>
            </a:r>
            <a:endParaRPr lang="en-US" sz="5400" kern="1200" dirty="0">
              <a:latin typeface="+mj-lt"/>
              <a:cs typeface="Calibri Light"/>
            </a:endParaRPr>
          </a:p>
        </p:txBody>
      </p:sp>
      <p:pic>
        <p:nvPicPr>
          <p:cNvPr id="7" name="Picture 7" descr="A picture containing tree, outdoor, plant, wood&#10;&#10;Description automatically generated">
            <a:extLst>
              <a:ext uri="{FF2B5EF4-FFF2-40B4-BE49-F238E27FC236}">
                <a16:creationId xmlns:a16="http://schemas.microsoft.com/office/drawing/2014/main" id="{CB71CAF2-EA04-A03A-2066-4E9FB58A49D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62833" y="1098748"/>
            <a:ext cx="2638425" cy="17605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46288B-215D-6918-D741-3DE07346AB77}"/>
              </a:ext>
            </a:extLst>
          </p:cNvPr>
          <p:cNvSpPr txBox="1"/>
          <p:nvPr/>
        </p:nvSpPr>
        <p:spPr>
          <a:xfrm>
            <a:off x="572107" y="271975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cs typeface="Calibri"/>
              </a:rPr>
              <a:t>Natural Images </a:t>
            </a:r>
          </a:p>
          <a:p>
            <a:r>
              <a:rPr lang="en-US" sz="2400" dirty="0">
                <a:cs typeface="Calibri"/>
              </a:rPr>
              <a:t>(Penn Database)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EE5D89-01F2-77D1-10EE-C5868F5AA350}"/>
              </a:ext>
            </a:extLst>
          </p:cNvPr>
          <p:cNvSpPr txBox="1"/>
          <p:nvPr/>
        </p:nvSpPr>
        <p:spPr>
          <a:xfrm>
            <a:off x="457472" y="292351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Segoe UI"/>
              </a:rPr>
              <a:t>1519 x 1009 Pixels</a:t>
            </a:r>
          </a:p>
        </p:txBody>
      </p:sp>
      <p:pic>
        <p:nvPicPr>
          <p:cNvPr id="14" name="Picture 15" descr="Chart&#10;&#10;Description automatically generated">
            <a:extLst>
              <a:ext uri="{FF2B5EF4-FFF2-40B4-BE49-F238E27FC236}">
                <a16:creationId xmlns:a16="http://schemas.microsoft.com/office/drawing/2014/main" id="{CBA68EC5-B54A-EA18-B4CF-09C482C26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41" y="3607613"/>
            <a:ext cx="3283351" cy="27752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EF027CE-389E-E929-182A-BF93A2768EE0}"/>
              </a:ext>
            </a:extLst>
          </p:cNvPr>
          <p:cNvSpPr txBox="1"/>
          <p:nvPr/>
        </p:nvSpPr>
        <p:spPr>
          <a:xfrm rot="16200000">
            <a:off x="-1108624" y="4669340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Arial"/>
              </a:rPr>
              <a:t>power</a:t>
            </a:r>
          </a:p>
        </p:txBody>
      </p:sp>
      <p:pic>
        <p:nvPicPr>
          <p:cNvPr id="19" name="Picture 19" descr="Shape&#10;&#10;Description automatically generated">
            <a:extLst>
              <a:ext uri="{FF2B5EF4-FFF2-40B4-BE49-F238E27FC236}">
                <a16:creationId xmlns:a16="http://schemas.microsoft.com/office/drawing/2014/main" id="{B2E9AEA8-7094-A17D-163E-27C5EDDAE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093" y="3739386"/>
            <a:ext cx="914400" cy="239883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0804136-F03B-5BA0-5C3A-52FB65F0AB31}"/>
              </a:ext>
            </a:extLst>
          </p:cNvPr>
          <p:cNvSpPr txBox="1"/>
          <p:nvPr/>
        </p:nvSpPr>
        <p:spPr>
          <a:xfrm>
            <a:off x="1098393" y="4368424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latin typeface="Arial"/>
              </a:rPr>
              <a:t>1/f</a:t>
            </a:r>
            <a:r>
              <a:rPr lang="en-US" sz="1600" baseline="30000">
                <a:latin typeface="Arial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F3E391-2F4A-12C6-CB3D-428AD322F153}"/>
              </a:ext>
            </a:extLst>
          </p:cNvPr>
          <p:cNvSpPr txBox="1"/>
          <p:nvPr/>
        </p:nvSpPr>
        <p:spPr>
          <a:xfrm>
            <a:off x="456327" y="5610700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latin typeface="Arial"/>
              </a:rPr>
              <a:t>slope ~ 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464266-4A40-53C1-E096-FE171C23EFE2}"/>
              </a:ext>
            </a:extLst>
          </p:cNvPr>
          <p:cNvSpPr txBox="1"/>
          <p:nvPr/>
        </p:nvSpPr>
        <p:spPr>
          <a:xfrm>
            <a:off x="503276" y="3214342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Calibri"/>
                <a:cs typeface="Calibri"/>
              </a:rPr>
              <a:t>Power spectra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58C640-9814-7380-7E2E-DE430F5297E8}"/>
              </a:ext>
            </a:extLst>
          </p:cNvPr>
          <p:cNvSpPr txBox="1"/>
          <p:nvPr/>
        </p:nvSpPr>
        <p:spPr>
          <a:xfrm>
            <a:off x="-363138" y="3819218"/>
            <a:ext cx="51160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dirty="0"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BFF819-A1B0-DCF3-B767-69A9F5BF7194}"/>
              </a:ext>
            </a:extLst>
          </p:cNvPr>
          <p:cNvSpPr txBox="1"/>
          <p:nvPr/>
        </p:nvSpPr>
        <p:spPr>
          <a:xfrm>
            <a:off x="4714755" y="1367741"/>
            <a:ext cx="6765400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cs typeface="Calibri"/>
              </a:rPr>
              <a:t>How do we measure these correlations?</a:t>
            </a:r>
            <a:endParaRPr lang="en-US" sz="2400" dirty="0">
              <a:ea typeface="+mn-lt"/>
              <a:cs typeface="+mn-lt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400" dirty="0">
                <a:ea typeface="+mn-lt"/>
                <a:cs typeface="+mn-lt"/>
              </a:rPr>
              <a:t>Power Spectra</a:t>
            </a:r>
          </a:p>
          <a:p>
            <a:pPr marL="1200150" lvl="2" indent="-285750">
              <a:buFont typeface="Arial,Sans-Serif"/>
              <a:buChar char="•"/>
            </a:pPr>
            <a:r>
              <a:rPr lang="en-US" sz="2400" dirty="0">
                <a:ea typeface="+mn-lt"/>
                <a:cs typeface="+mn-lt"/>
              </a:rPr>
              <a:t>Quantifies and compares short and long-range correlations</a:t>
            </a:r>
          </a:p>
          <a:p>
            <a:pPr marL="1200150" lvl="2" indent="-285750">
              <a:buFont typeface="Arial,Sans-Serif"/>
              <a:buChar char="•"/>
            </a:pPr>
            <a:r>
              <a:rPr lang="en-US" sz="2400" dirty="0">
                <a:ea typeface="+mn-lt"/>
                <a:cs typeface="+mn-lt"/>
              </a:rPr>
              <a:t>The slope of the power spectra specifically compares the relative strength of these correlations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In natural scenes, the slope of the power spectrum is –2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What</a:t>
            </a:r>
            <a:r>
              <a:rPr lang="en-US" sz="2400" dirty="0">
                <a:cs typeface="Calibri"/>
              </a:rPr>
              <a:t> is the slope of the power spectra in medical images?</a:t>
            </a:r>
          </a:p>
          <a:p>
            <a:pPr marL="742950" lvl="1" indent="-285750">
              <a:buFont typeface="Arial"/>
              <a:buChar char="•"/>
            </a:pPr>
            <a:endParaRPr lang="en-US" sz="2600" dirty="0">
              <a:cs typeface="Calibri"/>
            </a:endParaRPr>
          </a:p>
          <a:p>
            <a:pPr marL="742950" lvl="1" indent="-285750">
              <a:buFont typeface="Arial"/>
              <a:buChar char="•"/>
            </a:pPr>
            <a:endParaRPr lang="en-US" sz="2600" dirty="0"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C35702-20FF-63A3-A14A-26E3E9CE0B92}"/>
              </a:ext>
            </a:extLst>
          </p:cNvPr>
          <p:cNvSpPr txBox="1"/>
          <p:nvPr/>
        </p:nvSpPr>
        <p:spPr>
          <a:xfrm>
            <a:off x="-592857" y="6386532"/>
            <a:ext cx="557553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latin typeface="Arial"/>
              </a:rPr>
              <a:t>Spatial frequency (cycles/image pixel)</a:t>
            </a:r>
          </a:p>
        </p:txBody>
      </p:sp>
      <p:pic>
        <p:nvPicPr>
          <p:cNvPr id="3" name="Picture 3" descr="Logo&#10;&#10;Description automatically generated">
            <a:extLst>
              <a:ext uri="{FF2B5EF4-FFF2-40B4-BE49-F238E27FC236}">
                <a16:creationId xmlns:a16="http://schemas.microsoft.com/office/drawing/2014/main" id="{08F81AA6-9F10-038B-D80D-C489C9B0A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5027" y="5703317"/>
            <a:ext cx="2743200" cy="97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540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5E999-123F-F62A-7F20-B0E07E719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cs typeface="Calibri Light"/>
              </a:rPr>
              <a:t>Some of Bone X-RAYS and Scintigraphy's analyzed...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D6023-2D5B-255F-89B5-4B05F06F3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828800" lvl="4" indent="0">
              <a:buNone/>
            </a:pPr>
            <a:endParaRPr lang="en-US" sz="2400" dirty="0">
              <a:cs typeface="Calibri"/>
            </a:endParaRPr>
          </a:p>
          <a:p>
            <a:pPr marL="2286000" lvl="5" indent="0">
              <a:buNone/>
            </a:pPr>
            <a:endParaRPr lang="en-US" sz="2400" dirty="0">
              <a:cs typeface="Calibri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86D22861-5A07-7E0D-50CC-E4DE5E9A5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959" y="2185791"/>
            <a:ext cx="1529541" cy="20793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EA4B25-5AFB-1470-2079-5F71E827D4ED}"/>
              </a:ext>
            </a:extLst>
          </p:cNvPr>
          <p:cNvSpPr txBox="1"/>
          <p:nvPr/>
        </p:nvSpPr>
        <p:spPr>
          <a:xfrm>
            <a:off x="3704681" y="4385045"/>
            <a:ext cx="1602286" cy="14003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Calibri"/>
              </a:rPr>
              <a:t>Bone X-RAY</a:t>
            </a:r>
          </a:p>
          <a:p>
            <a:r>
              <a:rPr lang="en-US" b="1" dirty="0" err="1">
                <a:cs typeface="Calibri"/>
              </a:rPr>
              <a:t>MedPix</a:t>
            </a:r>
            <a:endParaRPr lang="en-US" b="1" dirty="0">
              <a:cs typeface="Calibri"/>
            </a:endParaRPr>
          </a:p>
          <a:p>
            <a:r>
              <a:rPr lang="en-US" b="1" dirty="0">
                <a:cs typeface="Calibri"/>
              </a:rPr>
              <a:t>521 x 703 pixels</a:t>
            </a:r>
          </a:p>
          <a:p>
            <a:endParaRPr lang="en-US" sz="1300" b="1" dirty="0">
              <a:cs typeface="Calibri"/>
            </a:endParaRPr>
          </a:p>
        </p:txBody>
      </p:sp>
      <p:pic>
        <p:nvPicPr>
          <p:cNvPr id="11" name="Picture 12">
            <a:extLst>
              <a:ext uri="{FF2B5EF4-FFF2-40B4-BE49-F238E27FC236}">
                <a16:creationId xmlns:a16="http://schemas.microsoft.com/office/drawing/2014/main" id="{F3695E64-0AA7-502E-17D6-D08E1E877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644" y="2186369"/>
            <a:ext cx="1584543" cy="20677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7AA22B4-27B4-FC92-488B-DA103D0AA5C4}"/>
              </a:ext>
            </a:extLst>
          </p:cNvPr>
          <p:cNvSpPr txBox="1"/>
          <p:nvPr/>
        </p:nvSpPr>
        <p:spPr>
          <a:xfrm>
            <a:off x="1130061" y="4379343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Segoe UI"/>
              </a:rPr>
              <a:t>Bone X-RAY</a:t>
            </a:r>
            <a:r>
              <a:rPr lang="en-US" dirty="0">
                <a:cs typeface="Segoe UI"/>
              </a:rPr>
              <a:t>​</a:t>
            </a:r>
          </a:p>
          <a:p>
            <a:r>
              <a:rPr lang="en-US" b="1" dirty="0" err="1">
                <a:cs typeface="Segoe UI"/>
              </a:rPr>
              <a:t>MedPix</a:t>
            </a:r>
            <a:r>
              <a:rPr lang="en-US" dirty="0">
                <a:cs typeface="Segoe UI"/>
              </a:rPr>
              <a:t>​</a:t>
            </a:r>
          </a:p>
          <a:p>
            <a:r>
              <a:rPr lang="en-US" b="1" dirty="0">
                <a:cs typeface="Segoe UI"/>
              </a:rPr>
              <a:t>643 x 837 pixels</a:t>
            </a:r>
            <a:endParaRPr lang="en-US" dirty="0">
              <a:cs typeface="Segoe UI"/>
            </a:endParaRPr>
          </a:p>
          <a:p>
            <a:r>
              <a:rPr lang="en-US" dirty="0">
                <a:cs typeface="Segoe UI"/>
              </a:rPr>
              <a:t>​</a:t>
            </a:r>
          </a:p>
        </p:txBody>
      </p:sp>
      <p:pic>
        <p:nvPicPr>
          <p:cNvPr id="15" name="Picture 16" descr="A picture containing white, black, x-ray film&#10;&#10;Description automatically generated">
            <a:extLst>
              <a:ext uri="{FF2B5EF4-FFF2-40B4-BE49-F238E27FC236}">
                <a16:creationId xmlns:a16="http://schemas.microsoft.com/office/drawing/2014/main" id="{42BDACF4-4C58-3437-586B-B705531AF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0211" y="2167142"/>
            <a:ext cx="1837427" cy="20923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DEA9E44-57D0-4D06-9F13-1A65E4EB6BFB}"/>
              </a:ext>
            </a:extLst>
          </p:cNvPr>
          <p:cNvSpPr txBox="1"/>
          <p:nvPr/>
        </p:nvSpPr>
        <p:spPr>
          <a:xfrm>
            <a:off x="5932098" y="4278701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Segoe UI"/>
              </a:rPr>
              <a:t>Bone X-RAY</a:t>
            </a:r>
            <a:r>
              <a:rPr lang="en-US" dirty="0">
                <a:cs typeface="Segoe UI"/>
              </a:rPr>
              <a:t>​</a:t>
            </a:r>
          </a:p>
          <a:p>
            <a:r>
              <a:rPr lang="en-US" b="1" dirty="0" err="1">
                <a:cs typeface="Segoe UI"/>
              </a:rPr>
              <a:t>MedPix</a:t>
            </a:r>
            <a:r>
              <a:rPr lang="en-US" dirty="0">
                <a:cs typeface="Segoe UI"/>
              </a:rPr>
              <a:t>​</a:t>
            </a:r>
          </a:p>
          <a:p>
            <a:r>
              <a:rPr lang="en-US" b="1" dirty="0">
                <a:cs typeface="Segoe UI"/>
              </a:rPr>
              <a:t>977 x 991 pixels</a:t>
            </a:r>
          </a:p>
          <a:p>
            <a:r>
              <a:rPr lang="en-US" dirty="0">
                <a:cs typeface="Segoe UI"/>
              </a:rPr>
              <a:t>​</a:t>
            </a:r>
          </a:p>
        </p:txBody>
      </p:sp>
      <p:pic>
        <p:nvPicPr>
          <p:cNvPr id="19" name="Picture 19" descr="A picture containing text&#10;&#10;Description automatically generated">
            <a:extLst>
              <a:ext uri="{FF2B5EF4-FFF2-40B4-BE49-F238E27FC236}">
                <a16:creationId xmlns:a16="http://schemas.microsoft.com/office/drawing/2014/main" id="{A96E28D8-EB79-10F4-FE86-718C98EF00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9269" y="2191110"/>
            <a:ext cx="1132444" cy="228887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567D1B0-E9E0-3B08-15E1-7317880C5EC8}"/>
              </a:ext>
            </a:extLst>
          </p:cNvPr>
          <p:cNvSpPr txBox="1"/>
          <p:nvPr/>
        </p:nvSpPr>
        <p:spPr>
          <a:xfrm>
            <a:off x="8146212" y="4681267"/>
            <a:ext cx="179429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Segoe UI"/>
              </a:rPr>
              <a:t>Scintigraphy</a:t>
            </a:r>
            <a:endParaRPr lang="en-US" dirty="0">
              <a:cs typeface="Calibri" panose="020F0502020204030204"/>
            </a:endParaRPr>
          </a:p>
          <a:p>
            <a:r>
              <a:rPr lang="en-US" b="1" dirty="0" err="1">
                <a:cs typeface="Segoe UI"/>
              </a:rPr>
              <a:t>MedPix</a:t>
            </a:r>
          </a:p>
          <a:p>
            <a:r>
              <a:rPr lang="en-US" b="1" dirty="0">
                <a:cs typeface="Segoe UI"/>
              </a:rPr>
              <a:t>299 x 1200 pixels</a:t>
            </a:r>
          </a:p>
          <a:p>
            <a:r>
              <a:rPr lang="en-US" dirty="0">
                <a:cs typeface="Segoe UI"/>
              </a:rPr>
              <a:t>​</a:t>
            </a:r>
          </a:p>
        </p:txBody>
      </p:sp>
      <p:pic>
        <p:nvPicPr>
          <p:cNvPr id="21" name="Picture 21">
            <a:extLst>
              <a:ext uri="{FF2B5EF4-FFF2-40B4-BE49-F238E27FC236}">
                <a16:creationId xmlns:a16="http://schemas.microsoft.com/office/drawing/2014/main" id="{1961557B-B35E-C30B-7EAB-2902E5D879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6866" y="2363638"/>
            <a:ext cx="1559776" cy="214510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68F311A-EC7D-C15A-1234-71F9DE01C4A6}"/>
              </a:ext>
            </a:extLst>
          </p:cNvPr>
          <p:cNvSpPr txBox="1"/>
          <p:nvPr/>
        </p:nvSpPr>
        <p:spPr>
          <a:xfrm>
            <a:off x="10101532" y="4681268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Segoe UI"/>
              </a:rPr>
              <a:t>Scintigraphy</a:t>
            </a:r>
            <a:r>
              <a:rPr lang="en-US" dirty="0">
                <a:cs typeface="Segoe UI"/>
              </a:rPr>
              <a:t>​</a:t>
            </a:r>
          </a:p>
          <a:p>
            <a:r>
              <a:rPr lang="en-US" b="1" dirty="0" err="1">
                <a:cs typeface="Segoe UI"/>
              </a:rPr>
              <a:t>MedPix</a:t>
            </a:r>
            <a:r>
              <a:rPr lang="en-US" dirty="0">
                <a:cs typeface="Segoe UI"/>
              </a:rPr>
              <a:t>​</a:t>
            </a:r>
          </a:p>
          <a:p>
            <a:r>
              <a:rPr lang="en-US" b="1" dirty="0">
                <a:cs typeface="Segoe UI"/>
              </a:rPr>
              <a:t>449 x 745 pixels</a:t>
            </a:r>
            <a:endParaRPr lang="en-US" dirty="0">
              <a:cs typeface="Segoe UI"/>
            </a:endParaRPr>
          </a:p>
          <a:p>
            <a:r>
              <a:rPr lang="en-US" dirty="0">
                <a:cs typeface="Segoe UI"/>
              </a:rPr>
              <a:t>​​</a:t>
            </a:r>
          </a:p>
        </p:txBody>
      </p:sp>
      <p:pic>
        <p:nvPicPr>
          <p:cNvPr id="4" name="Picture 4" descr="Logo&#10;&#10;Description automatically generated">
            <a:extLst>
              <a:ext uri="{FF2B5EF4-FFF2-40B4-BE49-F238E27FC236}">
                <a16:creationId xmlns:a16="http://schemas.microsoft.com/office/drawing/2014/main" id="{E8992904-41D4-1412-7EE0-6630FF7349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6788" y="5873914"/>
            <a:ext cx="2743200" cy="97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50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A40F-7AA8-AA97-A439-37558B87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171" y="698295"/>
            <a:ext cx="10417629" cy="148884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>
              <a:cs typeface="+mj-lt"/>
            </a:endParaRPr>
          </a:p>
          <a:p>
            <a:pPr algn="ctr"/>
            <a:endParaRPr lang="en-US" sz="1600" dirty="0">
              <a:ea typeface="+mj-lt"/>
              <a:cs typeface="+mj-lt"/>
            </a:endParaRPr>
          </a:p>
          <a:p>
            <a:endParaRPr lang="en-US" sz="1600" dirty="0">
              <a:cs typeface="Calibri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827980-0E82-044E-E8E5-B3593DA172A7}"/>
              </a:ext>
            </a:extLst>
          </p:cNvPr>
          <p:cNvSpPr txBox="1"/>
          <p:nvPr/>
        </p:nvSpPr>
        <p:spPr>
          <a:xfrm>
            <a:off x="3662992" y="9384"/>
            <a:ext cx="651461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POWER SPECTRA OF BONE X-RAY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3D3002-43DA-0953-BF51-5423CC8DC4A6}"/>
              </a:ext>
            </a:extLst>
          </p:cNvPr>
          <p:cNvSpPr txBox="1"/>
          <p:nvPr/>
        </p:nvSpPr>
        <p:spPr>
          <a:xfrm>
            <a:off x="399499" y="1174643"/>
            <a:ext cx="358332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200" b="1" dirty="0"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BA434C-5CA4-CBC2-AED6-579A74392E7F}"/>
              </a:ext>
            </a:extLst>
          </p:cNvPr>
          <p:cNvSpPr txBox="1"/>
          <p:nvPr/>
        </p:nvSpPr>
        <p:spPr>
          <a:xfrm>
            <a:off x="7198006" y="723418"/>
            <a:ext cx="43405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dirty="0">
              <a:cs typeface="Calibri"/>
            </a:endParaRPr>
          </a:p>
        </p:txBody>
      </p:sp>
      <p:pic>
        <p:nvPicPr>
          <p:cNvPr id="5" name="Picture 5" descr="Chart&#10;&#10;Description automatically generated">
            <a:extLst>
              <a:ext uri="{FF2B5EF4-FFF2-40B4-BE49-F238E27FC236}">
                <a16:creationId xmlns:a16="http://schemas.microsoft.com/office/drawing/2014/main" id="{EDA0F74D-7D23-A8A2-F3B4-3577EB506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737" y="760913"/>
            <a:ext cx="12195472" cy="609454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A830D6-9FFA-7C74-8EC1-41F14BB6BF72}"/>
              </a:ext>
            </a:extLst>
          </p:cNvPr>
          <p:cNvSpPr txBox="1"/>
          <p:nvPr/>
        </p:nvSpPr>
        <p:spPr>
          <a:xfrm>
            <a:off x="350270" y="529318"/>
            <a:ext cx="3676249" cy="6577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slope for all:  -3.416 </a:t>
            </a:r>
          </a:p>
          <a:p>
            <a:r>
              <a:rPr lang="en-US" b="1" dirty="0">
                <a:ea typeface="+mn-lt"/>
                <a:cs typeface="+mn-lt"/>
              </a:rPr>
              <a:t>confidence limit: [ -3.431  -3.402]</a:t>
            </a:r>
            <a:endParaRPr lang="en-US" b="1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6E42F-7301-FC6A-294B-A373E3B9EC09}"/>
              </a:ext>
            </a:extLst>
          </p:cNvPr>
          <p:cNvSpPr txBox="1"/>
          <p:nvPr/>
        </p:nvSpPr>
        <p:spPr>
          <a:xfrm>
            <a:off x="7017185" y="761999"/>
            <a:ext cx="398484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ea typeface="+mn-lt"/>
                <a:cs typeface="+mn-lt"/>
              </a:rPr>
              <a:t>An enlargement of the data points of the slope taken at different orientations differentiated by shape and color</a:t>
            </a:r>
            <a:endParaRPr lang="en-US" sz="1200" dirty="0">
              <a:ea typeface="+mn-lt"/>
              <a:cs typeface="+mn-lt"/>
            </a:endParaRPr>
          </a:p>
          <a:p>
            <a:pPr algn="l"/>
            <a:endParaRPr lang="en-US" sz="1200" dirty="0">
              <a:cs typeface="Calibri"/>
            </a:endParaRPr>
          </a:p>
        </p:txBody>
      </p:sp>
      <p:pic>
        <p:nvPicPr>
          <p:cNvPr id="3" name="Picture 3" descr="Logo&#10;&#10;Description automatically generated">
            <a:extLst>
              <a:ext uri="{FF2B5EF4-FFF2-40B4-BE49-F238E27FC236}">
                <a16:creationId xmlns:a16="http://schemas.microsoft.com/office/drawing/2014/main" id="{C49372A3-1238-967F-BE8B-F580CF609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654" y="-28744"/>
            <a:ext cx="2106305" cy="73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87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592" y="-395987"/>
            <a:ext cx="6124109" cy="203691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US" sz="1600" b="1" dirty="0">
                <a:ea typeface="+mj-lt"/>
                <a:cs typeface="+mj-lt"/>
              </a:rPr>
            </a:br>
            <a:endParaRPr lang="en-US" sz="1600" b="1">
              <a:ea typeface="+mj-lt"/>
              <a:cs typeface="+mj-lt"/>
            </a:endParaRPr>
          </a:p>
          <a:p>
            <a:endParaRPr lang="en-US" sz="1600" dirty="0">
              <a:cs typeface="Calibri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CB12CC-B901-CBAA-CD11-69DFE930D874}"/>
              </a:ext>
            </a:extLst>
          </p:cNvPr>
          <p:cNvSpPr txBox="1"/>
          <p:nvPr/>
        </p:nvSpPr>
        <p:spPr>
          <a:xfrm>
            <a:off x="278157" y="5216323"/>
            <a:ext cx="53365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FE9F9-E7C0-EB9D-BDC6-B18B1A6FE3AC}"/>
              </a:ext>
            </a:extLst>
          </p:cNvPr>
          <p:cNvSpPr txBox="1"/>
          <p:nvPr/>
        </p:nvSpPr>
        <p:spPr>
          <a:xfrm>
            <a:off x="3589621" y="-28"/>
            <a:ext cx="57911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cs typeface="Calibri"/>
              </a:rPr>
              <a:t>POWER SPECTRA OF SCINTIGRAPHY</a:t>
            </a:r>
            <a:endParaRPr lang="en-US" dirty="0">
              <a:cs typeface="Calibri"/>
            </a:endParaRPr>
          </a:p>
        </p:txBody>
      </p:sp>
      <p:pic>
        <p:nvPicPr>
          <p:cNvPr id="6" name="Picture 6" descr="Chart, line chart, histogram&#10;&#10;Description automatically generated">
            <a:extLst>
              <a:ext uri="{FF2B5EF4-FFF2-40B4-BE49-F238E27FC236}">
                <a16:creationId xmlns:a16="http://schemas.microsoft.com/office/drawing/2014/main" id="{104310E6-4604-449D-A20B-310B90AAD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" y="871027"/>
            <a:ext cx="12186738" cy="5984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C186E8-7CB9-89E9-6A86-1EF679CCDD9F}"/>
              </a:ext>
            </a:extLst>
          </p:cNvPr>
          <p:cNvSpPr txBox="1"/>
          <p:nvPr/>
        </p:nvSpPr>
        <p:spPr>
          <a:xfrm>
            <a:off x="6900702" y="873544"/>
            <a:ext cx="49686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cs typeface="Calibri"/>
              </a:rPr>
              <a:t>An enlargement of the data points of the slope taken at different orientations differentiated by shape and color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34CE03-696F-FB52-BF27-0638A3692B80}"/>
              </a:ext>
            </a:extLst>
          </p:cNvPr>
          <p:cNvSpPr txBox="1"/>
          <p:nvPr/>
        </p:nvSpPr>
        <p:spPr>
          <a:xfrm>
            <a:off x="282133" y="622030"/>
            <a:ext cx="387985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slope for all:  -3.499 </a:t>
            </a:r>
          </a:p>
          <a:p>
            <a:r>
              <a:rPr lang="en-US" b="1" dirty="0">
                <a:ea typeface="+mn-lt"/>
                <a:cs typeface="+mn-lt"/>
              </a:rPr>
              <a:t>confidence limit: [ -3.511  -3.487]</a:t>
            </a:r>
            <a:endParaRPr lang="en-US" b="1">
              <a:cs typeface="Calibri"/>
            </a:endParaRPr>
          </a:p>
        </p:txBody>
      </p:sp>
      <p:pic>
        <p:nvPicPr>
          <p:cNvPr id="3" name="Picture 3" descr="Logo&#10;&#10;Description automatically generated">
            <a:extLst>
              <a:ext uri="{FF2B5EF4-FFF2-40B4-BE49-F238E27FC236}">
                <a16:creationId xmlns:a16="http://schemas.microsoft.com/office/drawing/2014/main" id="{18297D03-57AF-8FA4-79B6-601A33DD0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669" y="5377"/>
            <a:ext cx="2140425" cy="73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6E168-CEFB-D60E-9C80-726279CA6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4600">
                <a:cs typeface="Calibri Light"/>
              </a:rPr>
              <a:t>Future Directions?</a:t>
            </a:r>
            <a:br>
              <a:rPr lang="en-US" sz="4600">
                <a:cs typeface="Calibri Light"/>
              </a:rPr>
            </a:br>
            <a:endParaRPr lang="en-US" sz="460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16D861-FC82-8CB6-C9C0-2AE4FA4F5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354809"/>
            <a:ext cx="6713552" cy="4835679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sz="2400" dirty="0">
              <a:cs typeface="Calibri"/>
            </a:endParaRPr>
          </a:p>
          <a:p>
            <a:r>
              <a:rPr lang="en-US" sz="2400" dirty="0">
                <a:cs typeface="Calibri"/>
              </a:rPr>
              <a:t>The future goal is to understand human factors to understand medical image interpretation</a:t>
            </a:r>
          </a:p>
          <a:p>
            <a:r>
              <a:rPr lang="en-US" sz="2400" dirty="0">
                <a:cs typeface="Calibri"/>
              </a:rPr>
              <a:t>It may lead to a better understanding of human expertise in radiology:</a:t>
            </a:r>
          </a:p>
          <a:p>
            <a:pPr lvl="1"/>
            <a:r>
              <a:rPr lang="en-US" dirty="0">
                <a:ea typeface="+mn-lt"/>
                <a:cs typeface="+mn-lt"/>
              </a:rPr>
              <a:t>Does long-term viewing of a class of medical images change neural circuitry in an adaptive manner?</a:t>
            </a:r>
            <a:endParaRPr lang="en-US">
              <a:cs typeface="Calibri"/>
            </a:endParaRPr>
          </a:p>
          <a:p>
            <a:r>
              <a:rPr lang="en-US" sz="2400" dirty="0">
                <a:ea typeface="+mn-lt"/>
                <a:cs typeface="+mn-lt"/>
              </a:rPr>
              <a:t>This may eventually lead to:</a:t>
            </a:r>
          </a:p>
          <a:p>
            <a:pPr lvl="1"/>
            <a:r>
              <a:rPr lang="en-US" dirty="0">
                <a:ea typeface="+mn-lt"/>
                <a:cs typeface="+mn-lt"/>
              </a:rPr>
              <a:t>Changing the way medical images are presented for human interpretation</a:t>
            </a:r>
          </a:p>
          <a:p>
            <a:pPr lvl="1"/>
            <a:r>
              <a:rPr lang="en-US" dirty="0">
                <a:ea typeface="+mn-lt"/>
                <a:cs typeface="+mn-lt"/>
              </a:rPr>
              <a:t>Development of new algorithms for computer aided diagnosis</a:t>
            </a:r>
          </a:p>
          <a:p>
            <a:pPr marL="457200" lvl="1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cs typeface="Calibri"/>
            </a:endParaRPr>
          </a:p>
        </p:txBody>
      </p:sp>
      <p:pic>
        <p:nvPicPr>
          <p:cNvPr id="8" name="Picture 6" descr="Neuron system in 3D rendering">
            <a:extLst>
              <a:ext uri="{FF2B5EF4-FFF2-40B4-BE49-F238E27FC236}">
                <a16:creationId xmlns:a16="http://schemas.microsoft.com/office/drawing/2014/main" id="{5CE7687A-997B-E14F-45C8-06EE741A17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090" r="8730" b="-2"/>
          <a:stretch/>
        </p:blipFill>
        <p:spPr>
          <a:xfrm>
            <a:off x="7561927" y="1855140"/>
            <a:ext cx="4157153" cy="4574182"/>
          </a:xfrm>
          <a:prstGeom prst="rect">
            <a:avLst/>
          </a:prstGeom>
        </p:spPr>
      </p:pic>
      <p:pic>
        <p:nvPicPr>
          <p:cNvPr id="3" name="Picture 3" descr="Logo&#10;&#10;Description automatically generated">
            <a:extLst>
              <a:ext uri="{FF2B5EF4-FFF2-40B4-BE49-F238E27FC236}">
                <a16:creationId xmlns:a16="http://schemas.microsoft.com/office/drawing/2014/main" id="{89677537-F858-53DE-9209-DC3CCBB75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5236" y="50869"/>
            <a:ext cx="2515738" cy="89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57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AAF5CB6-269D-BFE8-F167-0B6F6172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cs typeface="Calibri Light"/>
              </a:rPr>
              <a:t>Acknowledgements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CC366C02-18FF-5BF6-8094-860144230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104" y="1344637"/>
            <a:ext cx="10729423" cy="583043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cs typeface="Calibri"/>
              </a:rPr>
              <a:t>1. </a:t>
            </a:r>
            <a:r>
              <a:rPr lang="en-US" sz="2200" dirty="0" err="1">
                <a:cs typeface="Calibri"/>
              </a:rPr>
              <a:t>Suniyya</a:t>
            </a:r>
            <a:r>
              <a:rPr lang="en-US" sz="2200" dirty="0">
                <a:cs typeface="Calibri"/>
              </a:rPr>
              <a:t> Waraich, PhD Candidate: Helped with Matlab setup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sz="2200" dirty="0">
                <a:cs typeface="Calibri"/>
              </a:rPr>
              <a:t>2. Dr. Jonathan Victor: Helped with Computation and Analysis.</a:t>
            </a:r>
          </a:p>
          <a:p>
            <a:pPr marL="0" indent="0">
              <a:buNone/>
            </a:pPr>
            <a:r>
              <a:rPr lang="en-US" sz="2200" dirty="0">
                <a:cs typeface="Calibri"/>
              </a:rPr>
              <a:t>3. Support</a:t>
            </a:r>
            <a:r>
              <a:rPr lang="en-US" sz="2200" dirty="0">
                <a:ea typeface="+mn-lt"/>
                <a:cs typeface="+mn-lt"/>
              </a:rPr>
              <a:t>: Feil Family Brain and Mind Research Institute and Department of Neurology, BMRI Summer Diversity Scholar Program at Weill Cornell Medicine NY, and </a:t>
            </a:r>
            <a:r>
              <a:rPr lang="en-US" sz="2200" dirty="0">
                <a:cs typeface="Calibri"/>
              </a:rPr>
              <a:t>CA241705 (PI, J. Victor).</a:t>
            </a:r>
            <a:endParaRPr lang="en-US" sz="2200" dirty="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200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3B2C17-81E2-4F52-F4AF-9DBC8F5157AE}"/>
              </a:ext>
            </a:extLst>
          </p:cNvPr>
          <p:cNvSpPr txBox="1"/>
          <p:nvPr/>
        </p:nvSpPr>
        <p:spPr>
          <a:xfrm>
            <a:off x="617795" y="3944297"/>
            <a:ext cx="9256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cs typeface="Calibri"/>
            </a:endParaRPr>
          </a:p>
        </p:txBody>
      </p:sp>
      <p:pic>
        <p:nvPicPr>
          <p:cNvPr id="3" name="Picture 3" descr="Logo&#10;&#10;Description automatically generated">
            <a:extLst>
              <a:ext uri="{FF2B5EF4-FFF2-40B4-BE49-F238E27FC236}">
                <a16:creationId xmlns:a16="http://schemas.microsoft.com/office/drawing/2014/main" id="{35862F48-16E5-93B6-6F5A-259BD1C97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638" y="5873914"/>
            <a:ext cx="2743200" cy="97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910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Plan</vt:lpstr>
      <vt:lpstr>Methods (Pipeline of Research Project)</vt:lpstr>
      <vt:lpstr>The visual system is tuned to characteristics of images in the real world </vt:lpstr>
      <vt:lpstr>Image Sets </vt:lpstr>
      <vt:lpstr>Some of Bone X-RAYS and Scintigraphy's analyzed...</vt:lpstr>
      <vt:lpstr>  </vt:lpstr>
      <vt:lpstr>  </vt:lpstr>
      <vt:lpstr>Future Directions? 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1363</cp:revision>
  <dcterms:created xsi:type="dcterms:W3CDTF">2022-07-20T18:07:04Z</dcterms:created>
  <dcterms:modified xsi:type="dcterms:W3CDTF">2022-07-29T07:22:41Z</dcterms:modified>
</cp:coreProperties>
</file>