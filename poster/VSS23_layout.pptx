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8" r:id="rId3"/>
    <p:sldId id="257" r:id="rId4"/>
  </p:sldIdLst>
  <p:sldSz cx="438912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5EE468-B1B4-1A48-B68A-E787D1099989}" v="102" dt="2023-03-22T19:44:07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74" autoAdjust="0"/>
    <p:restoredTop sz="86318" autoAdjust="0"/>
  </p:normalViewPr>
  <p:slideViewPr>
    <p:cSldViewPr snapToGrid="0">
      <p:cViewPr varScale="1">
        <p:scale>
          <a:sx n="36" d="100"/>
          <a:sy n="36" d="100"/>
        </p:scale>
        <p:origin x="45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8FA46-20DC-4728-A465-719E089FDDBF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9F13C-FAF6-45C6-A5B0-84C35A98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10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9F13C-FAF6-45C6-A5B0-84C35A98CD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59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9F13C-FAF6-45C6-A5B0-84C35A98CD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65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3591562"/>
            <a:ext cx="32918400" cy="7640320"/>
          </a:xfrm>
        </p:spPr>
        <p:txBody>
          <a:bodyPr anchor="b"/>
          <a:lstStyle>
            <a:lvl1pPr algn="ctr">
              <a:defRPr sz="192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1526522"/>
            <a:ext cx="329184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113" indent="0" algn="ctr">
              <a:buNone/>
              <a:defRPr sz="6400"/>
            </a:lvl2pPr>
            <a:lvl3pPr marL="2926226" indent="0" algn="ctr">
              <a:buNone/>
              <a:defRPr sz="5760"/>
            </a:lvl3pPr>
            <a:lvl4pPr marL="4389339" indent="0" algn="ctr">
              <a:buNone/>
              <a:defRPr sz="5120"/>
            </a:lvl4pPr>
            <a:lvl5pPr marL="5852453" indent="0" algn="ctr">
              <a:buNone/>
              <a:defRPr sz="5120"/>
            </a:lvl5pPr>
            <a:lvl6pPr marL="7315566" indent="0" algn="ctr">
              <a:buNone/>
              <a:defRPr sz="5120"/>
            </a:lvl6pPr>
            <a:lvl7pPr marL="8778679" indent="0" algn="ctr">
              <a:buNone/>
              <a:defRPr sz="5120"/>
            </a:lvl7pPr>
            <a:lvl8pPr marL="10241792" indent="0" algn="ctr">
              <a:buNone/>
              <a:defRPr sz="5120"/>
            </a:lvl8pPr>
            <a:lvl9pPr marL="11704905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07F29-20A1-4AB0-B468-3A3EE55D39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02A35-B5A7-4CE9-BDCC-7BC621D67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9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07F29-20A1-4AB0-B468-3A3EE55D39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02A35-B5A7-4CE9-BDCC-7BC621D67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54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0" y="5471164"/>
            <a:ext cx="37856160" cy="9128758"/>
          </a:xfrm>
        </p:spPr>
        <p:txBody>
          <a:bodyPr anchor="b"/>
          <a:lstStyle>
            <a:lvl1pPr>
              <a:defRPr sz="192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0" y="14686284"/>
            <a:ext cx="3785616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1pPr>
            <a:lvl2pPr marL="1463113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2pPr>
            <a:lvl3pPr marL="2926226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3pPr>
            <a:lvl4pPr marL="4389339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4pPr>
            <a:lvl5pPr marL="5852453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5pPr>
            <a:lvl6pPr marL="7315566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6pPr>
            <a:lvl7pPr marL="8778679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7pPr>
            <a:lvl8pPr marL="10241792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8pPr>
            <a:lvl9pPr marL="11704905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07F29-20A1-4AB0-B468-3A3EE55D39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02A35-B5A7-4CE9-BDCC-7BC621D67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77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5842000"/>
            <a:ext cx="1865376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5842000"/>
            <a:ext cx="1865376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07F29-20A1-4AB0-B468-3A3EE55D39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02A35-B5A7-4CE9-BDCC-7BC621D67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61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168402"/>
            <a:ext cx="3785616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1" y="5379722"/>
            <a:ext cx="18568033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113" indent="0">
              <a:buNone/>
              <a:defRPr sz="6400" b="1"/>
            </a:lvl2pPr>
            <a:lvl3pPr marL="2926226" indent="0">
              <a:buNone/>
              <a:defRPr sz="5760" b="1"/>
            </a:lvl3pPr>
            <a:lvl4pPr marL="4389339" indent="0">
              <a:buNone/>
              <a:defRPr sz="5120" b="1"/>
            </a:lvl4pPr>
            <a:lvl5pPr marL="5852453" indent="0">
              <a:buNone/>
              <a:defRPr sz="5120" b="1"/>
            </a:lvl5pPr>
            <a:lvl6pPr marL="7315566" indent="0">
              <a:buNone/>
              <a:defRPr sz="5120" b="1"/>
            </a:lvl6pPr>
            <a:lvl7pPr marL="8778679" indent="0">
              <a:buNone/>
              <a:defRPr sz="5120" b="1"/>
            </a:lvl7pPr>
            <a:lvl8pPr marL="10241792" indent="0">
              <a:buNone/>
              <a:defRPr sz="5120" b="1"/>
            </a:lvl8pPr>
            <a:lvl9pPr marL="11704905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1" y="8016240"/>
            <a:ext cx="18568033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5379722"/>
            <a:ext cx="18659477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113" indent="0">
              <a:buNone/>
              <a:defRPr sz="6400" b="1"/>
            </a:lvl2pPr>
            <a:lvl3pPr marL="2926226" indent="0">
              <a:buNone/>
              <a:defRPr sz="5760" b="1"/>
            </a:lvl3pPr>
            <a:lvl4pPr marL="4389339" indent="0">
              <a:buNone/>
              <a:defRPr sz="5120" b="1"/>
            </a:lvl4pPr>
            <a:lvl5pPr marL="5852453" indent="0">
              <a:buNone/>
              <a:defRPr sz="5120" b="1"/>
            </a:lvl5pPr>
            <a:lvl6pPr marL="7315566" indent="0">
              <a:buNone/>
              <a:defRPr sz="5120" b="1"/>
            </a:lvl6pPr>
            <a:lvl7pPr marL="8778679" indent="0">
              <a:buNone/>
              <a:defRPr sz="5120" b="1"/>
            </a:lvl7pPr>
            <a:lvl8pPr marL="10241792" indent="0">
              <a:buNone/>
              <a:defRPr sz="5120" b="1"/>
            </a:lvl8pPr>
            <a:lvl9pPr marL="11704905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8016240"/>
            <a:ext cx="18659477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07F29-20A1-4AB0-B468-3A3EE55D39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02A35-B5A7-4CE9-BDCC-7BC621D67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38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07F29-20A1-4AB0-B468-3A3EE55D39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02A35-B5A7-4CE9-BDCC-7BC621D67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55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07F29-20A1-4AB0-B468-3A3EE55D39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02A35-B5A7-4CE9-BDCC-7BC621D67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51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41" y="1463040"/>
            <a:ext cx="14156053" cy="5120640"/>
          </a:xfrm>
        </p:spPr>
        <p:txBody>
          <a:bodyPr anchor="b"/>
          <a:lstStyle>
            <a:lvl1pPr>
              <a:defRPr sz="102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3159762"/>
            <a:ext cx="22219920" cy="15595600"/>
          </a:xfrm>
        </p:spPr>
        <p:txBody>
          <a:bodyPr/>
          <a:lstStyle>
            <a:lvl1pPr>
              <a:defRPr sz="10241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41" y="6583680"/>
            <a:ext cx="14156053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113" indent="0">
              <a:buNone/>
              <a:defRPr sz="4480"/>
            </a:lvl2pPr>
            <a:lvl3pPr marL="2926226" indent="0">
              <a:buNone/>
              <a:defRPr sz="3840"/>
            </a:lvl3pPr>
            <a:lvl4pPr marL="4389339" indent="0">
              <a:buNone/>
              <a:defRPr sz="3200"/>
            </a:lvl4pPr>
            <a:lvl5pPr marL="5852453" indent="0">
              <a:buNone/>
              <a:defRPr sz="3200"/>
            </a:lvl5pPr>
            <a:lvl6pPr marL="7315566" indent="0">
              <a:buNone/>
              <a:defRPr sz="3200"/>
            </a:lvl6pPr>
            <a:lvl7pPr marL="8778679" indent="0">
              <a:buNone/>
              <a:defRPr sz="3200"/>
            </a:lvl7pPr>
            <a:lvl8pPr marL="10241792" indent="0">
              <a:buNone/>
              <a:defRPr sz="3200"/>
            </a:lvl8pPr>
            <a:lvl9pPr marL="11704905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07F29-20A1-4AB0-B468-3A3EE55D39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02A35-B5A7-4CE9-BDCC-7BC621D67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4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41" y="1463040"/>
            <a:ext cx="14156053" cy="5120640"/>
          </a:xfrm>
        </p:spPr>
        <p:txBody>
          <a:bodyPr anchor="b"/>
          <a:lstStyle>
            <a:lvl1pPr>
              <a:defRPr sz="102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3159762"/>
            <a:ext cx="22219920" cy="15595600"/>
          </a:xfrm>
        </p:spPr>
        <p:txBody>
          <a:bodyPr anchor="t"/>
          <a:lstStyle>
            <a:lvl1pPr marL="0" indent="0">
              <a:buNone/>
              <a:defRPr sz="10241"/>
            </a:lvl1pPr>
            <a:lvl2pPr marL="1463113" indent="0">
              <a:buNone/>
              <a:defRPr sz="8960"/>
            </a:lvl2pPr>
            <a:lvl3pPr marL="2926226" indent="0">
              <a:buNone/>
              <a:defRPr sz="7680"/>
            </a:lvl3pPr>
            <a:lvl4pPr marL="4389339" indent="0">
              <a:buNone/>
              <a:defRPr sz="6400"/>
            </a:lvl4pPr>
            <a:lvl5pPr marL="5852453" indent="0">
              <a:buNone/>
              <a:defRPr sz="6400"/>
            </a:lvl5pPr>
            <a:lvl6pPr marL="7315566" indent="0">
              <a:buNone/>
              <a:defRPr sz="6400"/>
            </a:lvl6pPr>
            <a:lvl7pPr marL="8778679" indent="0">
              <a:buNone/>
              <a:defRPr sz="6400"/>
            </a:lvl7pPr>
            <a:lvl8pPr marL="10241792" indent="0">
              <a:buNone/>
              <a:defRPr sz="6400"/>
            </a:lvl8pPr>
            <a:lvl9pPr marL="11704905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41" y="6583680"/>
            <a:ext cx="14156053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113" indent="0">
              <a:buNone/>
              <a:defRPr sz="4480"/>
            </a:lvl2pPr>
            <a:lvl3pPr marL="2926226" indent="0">
              <a:buNone/>
              <a:defRPr sz="3840"/>
            </a:lvl3pPr>
            <a:lvl4pPr marL="4389339" indent="0">
              <a:buNone/>
              <a:defRPr sz="3200"/>
            </a:lvl4pPr>
            <a:lvl5pPr marL="5852453" indent="0">
              <a:buNone/>
              <a:defRPr sz="3200"/>
            </a:lvl5pPr>
            <a:lvl6pPr marL="7315566" indent="0">
              <a:buNone/>
              <a:defRPr sz="3200"/>
            </a:lvl6pPr>
            <a:lvl7pPr marL="8778679" indent="0">
              <a:buNone/>
              <a:defRPr sz="3200"/>
            </a:lvl7pPr>
            <a:lvl8pPr marL="10241792" indent="0">
              <a:buNone/>
              <a:defRPr sz="3200"/>
            </a:lvl8pPr>
            <a:lvl9pPr marL="11704905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07F29-20A1-4AB0-B468-3A3EE55D39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02A35-B5A7-4CE9-BDCC-7BC621D67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974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07F29-20A1-4AB0-B468-3A3EE55D39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02A35-B5A7-4CE9-BDCC-7BC621D67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7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0" y="1168400"/>
            <a:ext cx="946404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0" y="1168400"/>
            <a:ext cx="2784348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07F29-20A1-4AB0-B468-3A3EE55D39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02A35-B5A7-4CE9-BDCC-7BC621D67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2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168402"/>
            <a:ext cx="3785616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5842000"/>
            <a:ext cx="3785616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20340322"/>
            <a:ext cx="987552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107F29-20A1-4AB0-B468-3A3EE55D39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20340322"/>
            <a:ext cx="1481328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20340322"/>
            <a:ext cx="987552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102A35-B5A7-4CE9-BDCC-7BC621D67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13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26226" rtl="0" eaLnBrk="1" latinLnBrk="0" hangingPunct="1">
        <a:lnSpc>
          <a:spcPct val="90000"/>
        </a:lnSpc>
        <a:spcBef>
          <a:spcPct val="0"/>
        </a:spcBef>
        <a:buNone/>
        <a:defRPr sz="140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57" indent="-731557" algn="l" defTabSz="2926226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670" indent="-731557" algn="l" defTabSz="2926226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783" indent="-731557" algn="l" defTabSz="2926226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896" indent="-731557" algn="l" defTabSz="2926226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4009" indent="-731557" algn="l" defTabSz="2926226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7122" indent="-731557" algn="l" defTabSz="2926226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10235" indent="-731557" algn="l" defTabSz="2926226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3349" indent="-731557" algn="l" defTabSz="2926226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6462" indent="-731557" algn="l" defTabSz="2926226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226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113" algn="l" defTabSz="2926226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226" algn="l" defTabSz="2926226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339" algn="l" defTabSz="2926226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453" algn="l" defTabSz="2926226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566" algn="l" defTabSz="2926226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679" algn="l" defTabSz="2926226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792" algn="l" defTabSz="2926226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905" algn="l" defTabSz="2926226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D83EA8-046B-464D-AD42-8638ECC6CA37}"/>
              </a:ext>
            </a:extLst>
          </p:cNvPr>
          <p:cNvSpPr txBox="1"/>
          <p:nvPr/>
        </p:nvSpPr>
        <p:spPr>
          <a:xfrm>
            <a:off x="15415209" y="1247818"/>
            <a:ext cx="14881887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Title and authors</a:t>
            </a:r>
          </a:p>
          <a:p>
            <a:pPr algn="ctr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A3029D-3CF9-473F-AAD5-6A414D8C3210}"/>
              </a:ext>
            </a:extLst>
          </p:cNvPr>
          <p:cNvSpPr txBox="1"/>
          <p:nvPr/>
        </p:nvSpPr>
        <p:spPr>
          <a:xfrm>
            <a:off x="556591" y="2652166"/>
            <a:ext cx="8763369" cy="68053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3600" b="1" dirty="0">
                <a:cs typeface="Arial" panose="020B0604020202020204" pitchFamily="34" charset="0"/>
              </a:rPr>
              <a:t>Intro:</a:t>
            </a:r>
          </a:p>
          <a:p>
            <a:pPr marL="457223" indent="-457223">
              <a:buFont typeface="Arial" panose="020B0604020202020204" pitchFamily="34" charset="0"/>
              <a:buChar char="•"/>
            </a:pPr>
            <a:r>
              <a:rPr lang="en-US" sz="3200" dirty="0">
                <a:cs typeface="Arial" panose="020B0604020202020204" pitchFamily="34" charset="0"/>
              </a:rPr>
              <a:t>Visual Perception has evolved to process natural images.</a:t>
            </a:r>
          </a:p>
          <a:p>
            <a:pPr marL="457223" indent="-457223">
              <a:buFont typeface="Arial" panose="020B0604020202020204" pitchFamily="34" charset="0"/>
              <a:buChar char="•"/>
            </a:pPr>
            <a:r>
              <a:rPr lang="en-US" sz="3200" dirty="0">
                <a:cs typeface="Arial" panose="020B0604020202020204" pitchFamily="34" charset="0"/>
              </a:rPr>
              <a:t>Medical images, however, are formed by different physical processes than natural images and therefore may have different characteristics</a:t>
            </a:r>
          </a:p>
          <a:p>
            <a:pPr marL="457223" indent="-457223">
              <a:buFont typeface="Arial" panose="020B0604020202020204" pitchFamily="34" charset="0"/>
              <a:buChar char="•"/>
            </a:pPr>
            <a:r>
              <a:rPr lang="en-US" sz="3200" dirty="0">
                <a:cs typeface="Arial" panose="020B0604020202020204" pitchFamily="34" charset="0"/>
              </a:rPr>
              <a:t>We investigated the extent of these differences in two classes of medical images: bone radiographs and scintigrams.</a:t>
            </a:r>
          </a:p>
          <a:p>
            <a:pPr marL="457223" indent="-457223">
              <a:buFont typeface="Arial" panose="020B0604020202020204" pitchFamily="34" charset="0"/>
              <a:buChar char="•"/>
            </a:pPr>
            <a:r>
              <a:rPr lang="en-US" sz="3200" dirty="0">
                <a:cs typeface="Arial" panose="020B0604020202020204" pitchFamily="34" charset="0"/>
              </a:rPr>
              <a:t>For each, we analyzed two kinds of image statistics: power spectrum and local image statistics</a:t>
            </a:r>
          </a:p>
          <a:p>
            <a:pPr marL="457223" indent="-457223">
              <a:buFont typeface="Arial" panose="020B0604020202020204" pitchFamily="34" charset="0"/>
              <a:buChar char="•"/>
            </a:pPr>
            <a:endParaRPr lang="en-US" sz="3200" dirty="0">
              <a:cs typeface="Arial" panose="020B0604020202020204" pitchFamily="34" charset="0"/>
            </a:endParaRPr>
          </a:p>
          <a:p>
            <a:pPr marL="457223" indent="-457223">
              <a:buFont typeface="Arial" panose="020B0604020202020204" pitchFamily="34" charset="0"/>
              <a:buChar char="•"/>
            </a:pPr>
            <a:endParaRPr lang="en-US" sz="3200" dirty="0">
              <a:cs typeface="Arial" panose="020B0604020202020204" pitchFamily="34" charset="0"/>
            </a:endParaRPr>
          </a:p>
          <a:p>
            <a:endParaRPr lang="en-US" sz="3200" dirty="0"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8CE81-D0C5-4FC4-A1AA-8591B880A66B}"/>
              </a:ext>
            </a:extLst>
          </p:cNvPr>
          <p:cNvSpPr txBox="1"/>
          <p:nvPr/>
        </p:nvSpPr>
        <p:spPr>
          <a:xfrm>
            <a:off x="33549902" y="7995380"/>
            <a:ext cx="8350773" cy="60039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Conclusions: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E6268-04BA-4BBA-9FF4-68900F07B72A}"/>
              </a:ext>
            </a:extLst>
          </p:cNvPr>
          <p:cNvSpPr txBox="1"/>
          <p:nvPr/>
        </p:nvSpPr>
        <p:spPr>
          <a:xfrm>
            <a:off x="10166658" y="2652077"/>
            <a:ext cx="6811585" cy="68053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 Pipeline: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F5E86-7D6C-49C7-B7CF-291D834F7857}"/>
              </a:ext>
            </a:extLst>
          </p:cNvPr>
          <p:cNvSpPr txBox="1"/>
          <p:nvPr/>
        </p:nvSpPr>
        <p:spPr>
          <a:xfrm>
            <a:off x="7712765" y="10597628"/>
            <a:ext cx="9822182" cy="89557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b="1" dirty="0">
                <a:cs typeface="Arial" panose="020B0604020202020204" pitchFamily="34" charset="0"/>
              </a:rPr>
              <a:t>Methods text and bullets:</a:t>
            </a:r>
          </a:p>
          <a:p>
            <a:pPr>
              <a:lnSpc>
                <a:spcPct val="115000"/>
              </a:lnSpc>
            </a:pPr>
            <a:r>
              <a:rPr lang="en-US" sz="3200" dirty="0">
                <a:ea typeface="Calibri" panose="020F0502020204030204" pitchFamily="34" charset="0"/>
              </a:rPr>
              <a:t>Analysis was done on two kinds of bone images: radiographs and scintigrams, selected from </a:t>
            </a:r>
            <a:r>
              <a:rPr lang="en-US" sz="3200" dirty="0" err="1">
                <a:ea typeface="Calibri" panose="020F0502020204030204" pitchFamily="34" charset="0"/>
              </a:rPr>
              <a:t>MedPix</a:t>
            </a:r>
            <a:r>
              <a:rPr lang="en-US" sz="3200" dirty="0">
                <a:ea typeface="Calibri" panose="020F0502020204030204" pitchFamily="34" charset="0"/>
              </a:rPr>
              <a:t> (https://</a:t>
            </a:r>
            <a:r>
              <a:rPr lang="en-US" sz="3200" dirty="0" err="1">
                <a:ea typeface="Calibri" panose="020F0502020204030204" pitchFamily="34" charset="0"/>
              </a:rPr>
              <a:t>medpix.nlm.nih.gov</a:t>
            </a:r>
            <a:r>
              <a:rPr lang="en-US" sz="3200" dirty="0">
                <a:ea typeface="Calibri" panose="020F0502020204030204" pitchFamily="34" charset="0"/>
              </a:rPr>
              <a:t>).  </a:t>
            </a:r>
          </a:p>
          <a:p>
            <a:pPr>
              <a:lnSpc>
                <a:spcPct val="115000"/>
              </a:lnSpc>
            </a:pPr>
            <a:r>
              <a:rPr lang="en-US" sz="3200" dirty="0">
                <a:ea typeface="Calibri" panose="020F050202020403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3200" dirty="0">
                <a:ea typeface="Calibri" panose="020F0502020204030204" pitchFamily="34" charset="0"/>
              </a:rPr>
              <a:t>Images included studies of extremities, cranium, spine, and thorax, and, for scintigrams, whole-body, and included studies of normal bone and a range of pathology. Images were hand-curated to remove all artifacts and labeling, and then partitioned into rectangular regions of interest (R0I’s). ROI’s were then randomly subdivided square patches of size 64 x 64 pixels, or smaller.</a:t>
            </a:r>
            <a:endParaRPr lang="en-US" sz="3200" dirty="0"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3200" dirty="0">
                <a:ea typeface="Calibri" panose="020F0502020204030204" pitchFamily="34" charset="0"/>
              </a:rPr>
              <a:t> </a:t>
            </a:r>
            <a:endParaRPr lang="en-US" sz="3200" dirty="0"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3200" dirty="0">
                <a:ea typeface="Calibri" panose="020F0502020204030204" pitchFamily="34" charset="0"/>
              </a:rPr>
              <a:t>Radiographs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51 source images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67 ROI’s (1 to 3 per image)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ROI width: 336 to 1033 pixels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ROI height: 374 to 2021 pixels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1918 patches (64 x 64 pixels)</a:t>
            </a:r>
            <a:endParaRPr lang="en-US" sz="3200" dirty="0">
              <a:ea typeface="Arial" panose="020B0604020202020204" pitchFamily="34" charset="0"/>
            </a:endParaRPr>
          </a:p>
          <a:p>
            <a:pPr marL="457223">
              <a:lnSpc>
                <a:spcPct val="115000"/>
              </a:lnSpc>
            </a:pPr>
            <a:r>
              <a:rPr lang="en-US" sz="3200" dirty="0">
                <a:ea typeface="Calibri" panose="020F0502020204030204" pitchFamily="34" charset="0"/>
              </a:rPr>
              <a:t> </a:t>
            </a:r>
            <a:endParaRPr lang="en-US" sz="3200" dirty="0"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3200" dirty="0">
                <a:ea typeface="Calibri" panose="020F0502020204030204" pitchFamily="34" charset="0"/>
              </a:rPr>
              <a:t>Scintigrams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23 source images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73 ROI’s (1 to 6 per image)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ROI width: 230 to 1024 pixels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ROI height: 134 to 1200 </a:t>
            </a:r>
            <a:r>
              <a:rPr lang="en-US" sz="3200" dirty="0" err="1">
                <a:ea typeface="Calibri" panose="020F0502020204030204" pitchFamily="34" charset="0"/>
              </a:rPr>
              <a:t>piAxels</a:t>
            </a:r>
            <a:r>
              <a:rPr lang="en-US" sz="3200" dirty="0">
                <a:ea typeface="Calibri" panose="020F0502020204030204" pitchFamily="34" charset="0"/>
              </a:rPr>
              <a:t> 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1405 patches (64 x 64 pixels)</a:t>
            </a:r>
            <a:endParaRPr lang="en-US" sz="3200" dirty="0">
              <a:ea typeface="Arial" panose="020B0604020202020204" pitchFamily="34" charset="0"/>
            </a:endParaRPr>
          </a:p>
          <a:p>
            <a:pPr algn="ctr"/>
            <a:endParaRPr lang="en-US" sz="7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D54F8B-1CA8-4CEF-B36A-D6F72B0F7DCA}"/>
              </a:ext>
            </a:extLst>
          </p:cNvPr>
          <p:cNvSpPr txBox="1"/>
          <p:nvPr/>
        </p:nvSpPr>
        <p:spPr>
          <a:xfrm>
            <a:off x="790657" y="10621161"/>
            <a:ext cx="6769587" cy="76281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l" rtl="0" fontAlgn="base"/>
            <a:r>
              <a:rPr lang="en-US" sz="3600" b="1" dirty="0">
                <a:solidFill>
                  <a:srgbClr val="000000"/>
                </a:solidFill>
                <a:latin typeface="Arial" panose="020B0604020202020204" pitchFamily="34" charset="0"/>
              </a:rPr>
              <a:t>Local Image Statistics:</a:t>
            </a:r>
            <a:r>
              <a:rPr lang="en-US" sz="3600" b="1" i="0" u="none" strike="noStrike" dirty="0">
                <a:effectLst/>
                <a:latin typeface="Arial" panose="020B0604020202020204" pitchFamily="34" charset="0"/>
              </a:rPr>
              <a:t>​</a:t>
            </a:r>
            <a:endParaRPr lang="en-US" sz="3600" b="1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C2921B-3ED2-4A01-A5BD-BDFFAFF3C398}"/>
              </a:ext>
            </a:extLst>
          </p:cNvPr>
          <p:cNvSpPr txBox="1"/>
          <p:nvPr/>
        </p:nvSpPr>
        <p:spPr>
          <a:xfrm>
            <a:off x="32703203" y="2652077"/>
            <a:ext cx="11227753" cy="12485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 of other image sets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D2346F-0F3B-4FC0-9A82-9B643D4DE243}"/>
              </a:ext>
            </a:extLst>
          </p:cNvPr>
          <p:cNvSpPr txBox="1"/>
          <p:nvPr/>
        </p:nvSpPr>
        <p:spPr>
          <a:xfrm>
            <a:off x="17900695" y="10597628"/>
            <a:ext cx="14802508" cy="60039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Image Formation: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33D26B-811E-4FCD-A281-011EE0F8F670}"/>
              </a:ext>
            </a:extLst>
          </p:cNvPr>
          <p:cNvSpPr txBox="1"/>
          <p:nvPr/>
        </p:nvSpPr>
        <p:spPr>
          <a:xfrm>
            <a:off x="17824942" y="2652078"/>
            <a:ext cx="14878261" cy="68053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D181BF-8493-4EEB-8C21-64DE8EFA75CD}"/>
              </a:ext>
            </a:extLst>
          </p:cNvPr>
          <p:cNvSpPr txBox="1"/>
          <p:nvPr/>
        </p:nvSpPr>
        <p:spPr>
          <a:xfrm>
            <a:off x="33549902" y="14983315"/>
            <a:ext cx="8350772" cy="27643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Refs: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Victor, J.D., and Conte, M.M. (2012) Local image statistics: maximum-entropy constructions and perceptual salience. Journal of the Optical Society of America A, 29, 1313-1345.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Hermundstad</a:t>
            </a:r>
            <a:r>
              <a:rPr lang="en-U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A.H., </a:t>
            </a:r>
            <a:r>
              <a:rPr lang="en-US" sz="180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Briguglio</a:t>
            </a:r>
            <a:r>
              <a:rPr lang="en-U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J.J., Conte, M.M, Victor, J.D., Balasubramanian, V., and </a:t>
            </a:r>
            <a:r>
              <a:rPr lang="en-US" sz="180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Tkačik</a:t>
            </a:r>
            <a:r>
              <a:rPr lang="en-U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G., (2014) Variance predicts salience in central sensory processing.  </a:t>
            </a:r>
            <a:r>
              <a:rPr lang="en-US" sz="180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eLife</a:t>
            </a:r>
            <a:r>
              <a:rPr lang="en-U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2014;10.7554/eLife.03722.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0063E9-E57B-49FC-8046-F9516A27BCAC}"/>
              </a:ext>
            </a:extLst>
          </p:cNvPr>
          <p:cNvSpPr txBox="1"/>
          <p:nvPr/>
        </p:nvSpPr>
        <p:spPr>
          <a:xfrm>
            <a:off x="33549902" y="18158758"/>
            <a:ext cx="8350772" cy="21914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Acknowledgments:</a:t>
            </a:r>
          </a:p>
          <a:p>
            <a:pPr algn="ctr"/>
            <a:r>
              <a:rPr lang="en-US" sz="1800" dirty="0"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Supported by CA241705, EY07977</a:t>
            </a:r>
            <a:r>
              <a:rPr lang="en-US" sz="3600" dirty="0">
                <a:effectLst/>
              </a:rPr>
              <a:t> 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9796586-0BC2-916F-A207-AE8E4FAEE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2991" y="-6658793"/>
            <a:ext cx="32918400" cy="7640320"/>
          </a:xfrm>
        </p:spPr>
        <p:txBody>
          <a:bodyPr>
            <a:normAutofit/>
          </a:bodyPr>
          <a:lstStyle/>
          <a:p>
            <a:r>
              <a:rPr lang="en-US" sz="7000" dirty="0"/>
              <a:t>Overview 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04BC0-7466-E428-F343-43FC6E3577FB}"/>
              </a:ext>
            </a:extLst>
          </p:cNvPr>
          <p:cNvSpPr txBox="1"/>
          <p:nvPr/>
        </p:nvSpPr>
        <p:spPr>
          <a:xfrm>
            <a:off x="17900695" y="11128015"/>
            <a:ext cx="495545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Image formation caption:</a:t>
            </a:r>
          </a:p>
          <a:p>
            <a:r>
              <a:rPr lang="en-US" sz="3200" dirty="0" err="1">
                <a:solidFill>
                  <a:srgbClr val="FF0000"/>
                </a:solidFill>
              </a:rPr>
              <a:t>Exoplain</a:t>
            </a:r>
            <a:r>
              <a:rPr lang="en-US" sz="3200" dirty="0">
                <a:solidFill>
                  <a:srgbClr val="FF0000"/>
                </a:solidFill>
              </a:rPr>
              <a:t> the definition between radiograph </a:t>
            </a:r>
            <a:r>
              <a:rPr lang="en-US" sz="3200">
                <a:solidFill>
                  <a:srgbClr val="FF0000"/>
                </a:solidFill>
              </a:rPr>
              <a:t>and scintigram</a:t>
            </a:r>
          </a:p>
          <a:p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F5F5B4-CAD6-C50D-36EA-854F57B98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620" y="12121988"/>
            <a:ext cx="5377877" cy="1877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E8882AF-22BE-87DD-2C27-2D8E3135E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619" y="14292413"/>
            <a:ext cx="5377877" cy="28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>
            <a:extLst>
              <a:ext uri="{FF2B5EF4-FFF2-40B4-BE49-F238E27FC236}">
                <a16:creationId xmlns:a16="http://schemas.microsoft.com/office/drawing/2014/main" id="{EBD9F83C-DE96-2AC6-0B67-255246597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485" y="11712790"/>
            <a:ext cx="430828" cy="2579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8E13186E-589E-E4BF-6882-178525BE5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312" y="14645100"/>
            <a:ext cx="2715327" cy="73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>
            <a:extLst>
              <a:ext uri="{FF2B5EF4-FFF2-40B4-BE49-F238E27FC236}">
                <a16:creationId xmlns:a16="http://schemas.microsoft.com/office/drawing/2014/main" id="{7FF175A7-CA52-5094-25DE-363CB1628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640" y="14712175"/>
            <a:ext cx="2013136" cy="73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>
            <a:extLst>
              <a:ext uri="{FF2B5EF4-FFF2-40B4-BE49-F238E27FC236}">
                <a16:creationId xmlns:a16="http://schemas.microsoft.com/office/drawing/2014/main" id="{99D3B0FF-7FDE-896E-87B3-5C35BCDAA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518" y="14871134"/>
            <a:ext cx="779397" cy="28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B9B89FC-641C-7F66-3CEB-4FD2D6374DC4}"/>
              </a:ext>
            </a:extLst>
          </p:cNvPr>
          <p:cNvSpPr txBox="1"/>
          <p:nvPr/>
        </p:nvSpPr>
        <p:spPr>
          <a:xfrm>
            <a:off x="790657" y="11712790"/>
            <a:ext cx="4308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D1B862-8E4F-6E6A-C057-5BD4B94BF022}"/>
              </a:ext>
            </a:extLst>
          </p:cNvPr>
          <p:cNvSpPr txBox="1"/>
          <p:nvPr/>
        </p:nvSpPr>
        <p:spPr>
          <a:xfrm>
            <a:off x="1652312" y="15382818"/>
            <a:ext cx="2715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Second order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505347-37B3-4332-18C8-5F2EBC0068E8}"/>
              </a:ext>
            </a:extLst>
          </p:cNvPr>
          <p:cNvSpPr txBox="1"/>
          <p:nvPr/>
        </p:nvSpPr>
        <p:spPr>
          <a:xfrm>
            <a:off x="4616799" y="15414035"/>
            <a:ext cx="2013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Third order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F9033D-75DA-37A2-11C1-3DEE2E614341}"/>
              </a:ext>
            </a:extLst>
          </p:cNvPr>
          <p:cNvSpPr txBox="1"/>
          <p:nvPr/>
        </p:nvSpPr>
        <p:spPr>
          <a:xfrm>
            <a:off x="6380776" y="15449893"/>
            <a:ext cx="846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Fourth</a:t>
            </a:r>
          </a:p>
          <a:p>
            <a:r>
              <a:rPr lang="en-US" dirty="0"/>
              <a:t>order</a:t>
            </a:r>
          </a:p>
        </p:txBody>
      </p:sp>
    </p:spTree>
    <p:extLst>
      <p:ext uri="{BB962C8B-B14F-4D97-AF65-F5344CB8AC3E}">
        <p14:creationId xmlns:p14="http://schemas.microsoft.com/office/powerpoint/2010/main" val="3675748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D83EA8-046B-464D-AD42-8638ECC6CA37}"/>
              </a:ext>
            </a:extLst>
          </p:cNvPr>
          <p:cNvSpPr txBox="1"/>
          <p:nvPr/>
        </p:nvSpPr>
        <p:spPr>
          <a:xfrm>
            <a:off x="15415209" y="1247818"/>
            <a:ext cx="14881887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Title and authors</a:t>
            </a:r>
          </a:p>
          <a:p>
            <a:pPr algn="ctr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A3029D-3CF9-473F-AAD5-6A414D8C3210}"/>
              </a:ext>
            </a:extLst>
          </p:cNvPr>
          <p:cNvSpPr txBox="1"/>
          <p:nvPr/>
        </p:nvSpPr>
        <p:spPr>
          <a:xfrm>
            <a:off x="556591" y="2652166"/>
            <a:ext cx="8763369" cy="68053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3600" b="1" dirty="0">
                <a:cs typeface="Arial" panose="020B0604020202020204" pitchFamily="34" charset="0"/>
              </a:rPr>
              <a:t>Intro:</a:t>
            </a:r>
          </a:p>
          <a:p>
            <a:pPr marL="457223" indent="-457223">
              <a:buFont typeface="Arial" panose="020B0604020202020204" pitchFamily="34" charset="0"/>
              <a:buChar char="•"/>
            </a:pPr>
            <a:r>
              <a:rPr lang="en-US" sz="3200" dirty="0">
                <a:cs typeface="Arial" panose="020B0604020202020204" pitchFamily="34" charset="0"/>
              </a:rPr>
              <a:t>Visual Perception has evolved to process natural images.</a:t>
            </a:r>
          </a:p>
          <a:p>
            <a:pPr marL="457223" indent="-457223">
              <a:buFont typeface="Arial" panose="020B0604020202020204" pitchFamily="34" charset="0"/>
              <a:buChar char="•"/>
            </a:pPr>
            <a:r>
              <a:rPr lang="en-US" sz="3200" dirty="0">
                <a:cs typeface="Arial" panose="020B0604020202020204" pitchFamily="34" charset="0"/>
              </a:rPr>
              <a:t>Medical images, however, are formed by different physical processes than natural images and therefore may have different characteristics</a:t>
            </a:r>
          </a:p>
          <a:p>
            <a:pPr marL="457223" indent="-457223">
              <a:buFont typeface="Arial" panose="020B0604020202020204" pitchFamily="34" charset="0"/>
              <a:buChar char="•"/>
            </a:pPr>
            <a:r>
              <a:rPr lang="en-US" sz="3200" dirty="0">
                <a:cs typeface="Arial" panose="020B0604020202020204" pitchFamily="34" charset="0"/>
              </a:rPr>
              <a:t>We investigated the extent of these differences in two classes of medical images: bone radiographs and scintigrams.</a:t>
            </a:r>
          </a:p>
          <a:p>
            <a:pPr marL="457223" indent="-457223">
              <a:buFont typeface="Arial" panose="020B0604020202020204" pitchFamily="34" charset="0"/>
              <a:buChar char="•"/>
            </a:pPr>
            <a:r>
              <a:rPr lang="en-US" sz="3200" dirty="0">
                <a:cs typeface="Arial" panose="020B0604020202020204" pitchFamily="34" charset="0"/>
              </a:rPr>
              <a:t>For each, we analyzed two kinds of image statistics: power spectrum and local image statistics</a:t>
            </a:r>
          </a:p>
          <a:p>
            <a:pPr marL="457223" indent="-457223">
              <a:buFont typeface="Arial" panose="020B0604020202020204" pitchFamily="34" charset="0"/>
              <a:buChar char="•"/>
            </a:pPr>
            <a:endParaRPr lang="en-US" sz="3200" dirty="0">
              <a:cs typeface="Arial" panose="020B0604020202020204" pitchFamily="34" charset="0"/>
            </a:endParaRPr>
          </a:p>
          <a:p>
            <a:pPr marL="457223" indent="-457223">
              <a:buFont typeface="Arial" panose="020B0604020202020204" pitchFamily="34" charset="0"/>
              <a:buChar char="•"/>
            </a:pPr>
            <a:endParaRPr lang="en-US" sz="3200" dirty="0">
              <a:cs typeface="Arial" panose="020B0604020202020204" pitchFamily="34" charset="0"/>
            </a:endParaRPr>
          </a:p>
          <a:p>
            <a:endParaRPr lang="en-US" sz="3200" dirty="0"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8CE81-D0C5-4FC4-A1AA-8591B880A66B}"/>
              </a:ext>
            </a:extLst>
          </p:cNvPr>
          <p:cNvSpPr txBox="1"/>
          <p:nvPr/>
        </p:nvSpPr>
        <p:spPr>
          <a:xfrm>
            <a:off x="31338658" y="11751228"/>
            <a:ext cx="9429824" cy="62563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Conclusions: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E6268-04BA-4BBA-9FF4-68900F07B72A}"/>
              </a:ext>
            </a:extLst>
          </p:cNvPr>
          <p:cNvSpPr txBox="1"/>
          <p:nvPr/>
        </p:nvSpPr>
        <p:spPr>
          <a:xfrm>
            <a:off x="11583767" y="10526754"/>
            <a:ext cx="11013434" cy="107937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Methods Pipeline: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F5E86-7D6C-49C7-B7CF-291D834F7857}"/>
              </a:ext>
            </a:extLst>
          </p:cNvPr>
          <p:cNvSpPr txBox="1"/>
          <p:nvPr/>
        </p:nvSpPr>
        <p:spPr>
          <a:xfrm>
            <a:off x="1253873" y="10547353"/>
            <a:ext cx="9822182" cy="89557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b="1" dirty="0">
                <a:cs typeface="Arial" panose="020B0604020202020204" pitchFamily="34" charset="0"/>
              </a:rPr>
              <a:t>Methods text and bullets:</a:t>
            </a:r>
          </a:p>
          <a:p>
            <a:pPr>
              <a:lnSpc>
                <a:spcPct val="115000"/>
              </a:lnSpc>
            </a:pPr>
            <a:r>
              <a:rPr lang="en-US" sz="3200" dirty="0">
                <a:ea typeface="Calibri" panose="020F0502020204030204" pitchFamily="34" charset="0"/>
              </a:rPr>
              <a:t>Analysis was done on two kinds of bone images: radiographs and scintigrams, selected from </a:t>
            </a:r>
            <a:r>
              <a:rPr lang="en-US" sz="3200" dirty="0" err="1">
                <a:ea typeface="Calibri" panose="020F0502020204030204" pitchFamily="34" charset="0"/>
              </a:rPr>
              <a:t>MedPix</a:t>
            </a:r>
            <a:r>
              <a:rPr lang="en-US" sz="3200" dirty="0">
                <a:ea typeface="Calibri" panose="020F0502020204030204" pitchFamily="34" charset="0"/>
              </a:rPr>
              <a:t> (https://</a:t>
            </a:r>
            <a:r>
              <a:rPr lang="en-US" sz="3200" dirty="0" err="1">
                <a:ea typeface="Calibri" panose="020F0502020204030204" pitchFamily="34" charset="0"/>
              </a:rPr>
              <a:t>medpix.nlm.nih.gov</a:t>
            </a:r>
            <a:r>
              <a:rPr lang="en-US" sz="3200" dirty="0">
                <a:ea typeface="Calibri" panose="020F0502020204030204" pitchFamily="34" charset="0"/>
              </a:rPr>
              <a:t>).  </a:t>
            </a:r>
          </a:p>
          <a:p>
            <a:pPr>
              <a:lnSpc>
                <a:spcPct val="115000"/>
              </a:lnSpc>
            </a:pPr>
            <a:r>
              <a:rPr lang="en-US" sz="3200" dirty="0">
                <a:ea typeface="Calibri" panose="020F050202020403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3200" dirty="0">
                <a:ea typeface="Calibri" panose="020F0502020204030204" pitchFamily="34" charset="0"/>
              </a:rPr>
              <a:t>Images included studies of extremities, cranium, spine, and thorax, and, for scintigrams, whole-body, and included studies of normal bone and a range of pathology. Images were hand-curated to remove all artifacts and labeling, and then partitioned into rectangular regions of interest (R0I’s). ROI’s were then randomly subdivided square patches of size 64 x 64 pixels, or smaller.</a:t>
            </a:r>
            <a:endParaRPr lang="en-US" sz="3200" dirty="0"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3200" dirty="0">
                <a:ea typeface="Calibri" panose="020F0502020204030204" pitchFamily="34" charset="0"/>
              </a:rPr>
              <a:t> </a:t>
            </a:r>
            <a:endParaRPr lang="en-US" sz="3200" dirty="0"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3200" dirty="0">
                <a:ea typeface="Calibri" panose="020F0502020204030204" pitchFamily="34" charset="0"/>
              </a:rPr>
              <a:t>Radiographs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51 source images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67 ROI’s (1 to 3 per image)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ROI width: 336 to 1033 pixels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ROI height: 374 to 2021 pixels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1918 patches (64 x 64 pixels)</a:t>
            </a:r>
            <a:endParaRPr lang="en-US" sz="3200" dirty="0">
              <a:ea typeface="Arial" panose="020B0604020202020204" pitchFamily="34" charset="0"/>
            </a:endParaRPr>
          </a:p>
          <a:p>
            <a:pPr marL="457223">
              <a:lnSpc>
                <a:spcPct val="115000"/>
              </a:lnSpc>
            </a:pPr>
            <a:r>
              <a:rPr lang="en-US" sz="3200" dirty="0">
                <a:ea typeface="Calibri" panose="020F0502020204030204" pitchFamily="34" charset="0"/>
              </a:rPr>
              <a:t> </a:t>
            </a:r>
            <a:endParaRPr lang="en-US" sz="3200" dirty="0"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3200" dirty="0">
                <a:ea typeface="Calibri" panose="020F0502020204030204" pitchFamily="34" charset="0"/>
              </a:rPr>
              <a:t>Scintigrams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23 source images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73 ROI’s (1 to 6 per image)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ROI width: 230 to 1024 pixels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ROI height: 134 to 1200 </a:t>
            </a:r>
            <a:r>
              <a:rPr lang="en-US" sz="3200" dirty="0" err="1">
                <a:ea typeface="Calibri" panose="020F0502020204030204" pitchFamily="34" charset="0"/>
              </a:rPr>
              <a:t>piAxels</a:t>
            </a:r>
            <a:r>
              <a:rPr lang="en-US" sz="3200" dirty="0">
                <a:ea typeface="Calibri" panose="020F0502020204030204" pitchFamily="34" charset="0"/>
              </a:rPr>
              <a:t> </a:t>
            </a:r>
            <a:endParaRPr lang="en-US" sz="3200" dirty="0">
              <a:ea typeface="Arial" panose="020B0604020202020204" pitchFamily="34" charset="0"/>
            </a:endParaRPr>
          </a:p>
          <a:p>
            <a:pPr marL="342917" indent="-342917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US" sz="3200" dirty="0">
                <a:ea typeface="Calibri" panose="020F0502020204030204" pitchFamily="34" charset="0"/>
              </a:rPr>
              <a:t>1405 patches (64 x 64 pixels)</a:t>
            </a:r>
            <a:endParaRPr lang="en-US" sz="3200" dirty="0">
              <a:ea typeface="Arial" panose="020B0604020202020204" pitchFamily="34" charset="0"/>
            </a:endParaRPr>
          </a:p>
          <a:p>
            <a:pPr algn="ctr"/>
            <a:endParaRPr lang="en-US" sz="7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33D26B-811E-4FCD-A281-011EE0F8F670}"/>
              </a:ext>
            </a:extLst>
          </p:cNvPr>
          <p:cNvSpPr txBox="1"/>
          <p:nvPr/>
        </p:nvSpPr>
        <p:spPr>
          <a:xfrm>
            <a:off x="23742923" y="2500248"/>
            <a:ext cx="16379318" cy="85635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Results: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D181BF-8493-4EEB-8C21-64DE8EFA75CD}"/>
              </a:ext>
            </a:extLst>
          </p:cNvPr>
          <p:cNvSpPr txBox="1"/>
          <p:nvPr/>
        </p:nvSpPr>
        <p:spPr>
          <a:xfrm>
            <a:off x="26561585" y="18790073"/>
            <a:ext cx="8350772" cy="27643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Refs: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Victor, J.D., and Conte, M.M. (2012) Local image statistics: maximum-entropy constructions and perceptual salience. Journal of the Optical Society of America A, 29, 1313-1345.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Hermundstad</a:t>
            </a:r>
            <a:r>
              <a:rPr lang="en-U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A.H., </a:t>
            </a:r>
            <a:r>
              <a:rPr lang="en-US" sz="180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Briguglio</a:t>
            </a:r>
            <a:r>
              <a:rPr lang="en-U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J.J., Conte, M.M, Victor, J.D., Balasubramanian, V., and </a:t>
            </a:r>
            <a:r>
              <a:rPr lang="en-US" sz="180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Tkačik</a:t>
            </a:r>
            <a:r>
              <a:rPr lang="en-U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G., (2014) Variance predicts salience in central sensory processing.  </a:t>
            </a:r>
            <a:r>
              <a:rPr lang="en-US" sz="180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eLife</a:t>
            </a:r>
            <a:r>
              <a:rPr lang="en-U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2014;10.7554/eLife.03722.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0063E9-E57B-49FC-8046-F9516A27BCAC}"/>
              </a:ext>
            </a:extLst>
          </p:cNvPr>
          <p:cNvSpPr txBox="1"/>
          <p:nvPr/>
        </p:nvSpPr>
        <p:spPr>
          <a:xfrm>
            <a:off x="35162522" y="19076535"/>
            <a:ext cx="8350772" cy="21914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Acknowledgments:</a:t>
            </a:r>
          </a:p>
          <a:p>
            <a:pPr algn="ctr"/>
            <a:r>
              <a:rPr lang="en-US" sz="1800" dirty="0"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Supported by CA241705, EY07977</a:t>
            </a:r>
            <a:r>
              <a:rPr lang="en-US" sz="3600" dirty="0">
                <a:effectLst/>
              </a:rPr>
              <a:t> 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9796586-0BC2-916F-A207-AE8E4FAEE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202" y="-6441048"/>
            <a:ext cx="32918400" cy="7640320"/>
          </a:xfrm>
        </p:spPr>
        <p:txBody>
          <a:bodyPr>
            <a:normAutofit/>
          </a:bodyPr>
          <a:lstStyle/>
          <a:p>
            <a:r>
              <a:rPr lang="en-US" sz="7000" dirty="0"/>
              <a:t>Overview B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03C9C7-52B5-D1E6-4110-2682F8818248}"/>
              </a:ext>
            </a:extLst>
          </p:cNvPr>
          <p:cNvGrpSpPr/>
          <p:nvPr/>
        </p:nvGrpSpPr>
        <p:grpSpPr>
          <a:xfrm>
            <a:off x="10962723" y="3355564"/>
            <a:ext cx="11013434" cy="6460499"/>
            <a:chOff x="17074525" y="10036495"/>
            <a:chExt cx="14802508" cy="600392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BD2346F-0F3B-4FC0-9A82-9B643D4DE243}"/>
                </a:ext>
              </a:extLst>
            </p:cNvPr>
            <p:cNvSpPr txBox="1"/>
            <p:nvPr/>
          </p:nvSpPr>
          <p:spPr>
            <a:xfrm>
              <a:off x="17074525" y="10036495"/>
              <a:ext cx="14802508" cy="60039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Image Formation: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E204BC0-7466-E428-F343-43FC6E3577FB}"/>
                </a:ext>
              </a:extLst>
            </p:cNvPr>
            <p:cNvSpPr txBox="1"/>
            <p:nvPr/>
          </p:nvSpPr>
          <p:spPr>
            <a:xfrm>
              <a:off x="17900696" y="11128015"/>
              <a:ext cx="4955458" cy="3746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Image formation caption:</a:t>
              </a:r>
            </a:p>
            <a:p>
              <a:r>
                <a:rPr lang="en-US" sz="3200" dirty="0" err="1"/>
                <a:t>Exoplain</a:t>
              </a:r>
              <a:r>
                <a:rPr lang="en-US" sz="3200" dirty="0"/>
                <a:t> the definition between radiograph and scintigram</a:t>
              </a:r>
            </a:p>
            <a:p>
              <a:endParaRPr lang="en-US" sz="3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CF5CD06-D05C-E47A-0C24-A03A923BB1E4}"/>
              </a:ext>
            </a:extLst>
          </p:cNvPr>
          <p:cNvGrpSpPr/>
          <p:nvPr/>
        </p:nvGrpSpPr>
        <p:grpSpPr>
          <a:xfrm>
            <a:off x="23527509" y="11751227"/>
            <a:ext cx="6769587" cy="7038845"/>
            <a:chOff x="790657" y="10621161"/>
            <a:chExt cx="6769587" cy="762811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5D54F8B-1CA8-4CEF-B36A-D6F72B0F7DCA}"/>
                </a:ext>
              </a:extLst>
            </p:cNvPr>
            <p:cNvSpPr txBox="1"/>
            <p:nvPr/>
          </p:nvSpPr>
          <p:spPr>
            <a:xfrm>
              <a:off x="790657" y="10621161"/>
              <a:ext cx="6769587" cy="76281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l" rtl="0" fontAlgn="base"/>
              <a:r>
                <a:rPr lang="en-US" sz="36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Local Image Statistics:</a:t>
              </a:r>
              <a:r>
                <a:rPr lang="en-US" sz="3600" b="1" i="0" u="none" strike="noStrike" dirty="0">
                  <a:effectLst/>
                  <a:latin typeface="Arial" panose="020B0604020202020204" pitchFamily="34" charset="0"/>
                </a:rPr>
                <a:t>​</a:t>
              </a:r>
              <a:endParaRPr lang="en-US" sz="3600" b="1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F5F5F5B4-CAD6-C50D-36EA-854F57B98D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6620" y="12121988"/>
              <a:ext cx="5377877" cy="18773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DE8882AF-22BE-87DD-2C27-2D8E3135EC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6619" y="14292413"/>
              <a:ext cx="5377877" cy="2856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8">
              <a:extLst>
                <a:ext uri="{FF2B5EF4-FFF2-40B4-BE49-F238E27FC236}">
                  <a16:creationId xmlns:a16="http://schemas.microsoft.com/office/drawing/2014/main" id="{EBD9F83C-DE96-2AC6-0B67-255246597F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1485" y="11712790"/>
              <a:ext cx="430828" cy="25796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8E13186E-589E-E4BF-6882-178525BE54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2312" y="14645100"/>
              <a:ext cx="2715327" cy="7377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0">
              <a:extLst>
                <a:ext uri="{FF2B5EF4-FFF2-40B4-BE49-F238E27FC236}">
                  <a16:creationId xmlns:a16="http://schemas.microsoft.com/office/drawing/2014/main" id="{7FF175A7-CA52-5094-25DE-363CB16286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7640" y="14712175"/>
              <a:ext cx="2013136" cy="7377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0">
              <a:extLst>
                <a:ext uri="{FF2B5EF4-FFF2-40B4-BE49-F238E27FC236}">
                  <a16:creationId xmlns:a16="http://schemas.microsoft.com/office/drawing/2014/main" id="{99D3B0FF-7FDE-896E-87B3-5C35BCDAA7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7518" y="14871134"/>
              <a:ext cx="779397" cy="2856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B9B89FC-641C-7F66-3CEB-4FD2D6374DC4}"/>
                </a:ext>
              </a:extLst>
            </p:cNvPr>
            <p:cNvSpPr txBox="1"/>
            <p:nvPr/>
          </p:nvSpPr>
          <p:spPr>
            <a:xfrm>
              <a:off x="790657" y="11712790"/>
              <a:ext cx="430828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+1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r>
                <a:rPr lang="en-US" dirty="0"/>
                <a:t>0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r>
                <a:rPr lang="en-US" dirty="0"/>
                <a:t>-1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9D1B862-8E4F-6E6A-C057-5BD4B94BF022}"/>
                </a:ext>
              </a:extLst>
            </p:cNvPr>
            <p:cNvSpPr txBox="1"/>
            <p:nvPr/>
          </p:nvSpPr>
          <p:spPr>
            <a:xfrm>
              <a:off x="1652312" y="15382818"/>
              <a:ext cx="2715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         Second order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F505347-37B3-4332-18C8-5F2EBC0068E8}"/>
                </a:ext>
              </a:extLst>
            </p:cNvPr>
            <p:cNvSpPr txBox="1"/>
            <p:nvPr/>
          </p:nvSpPr>
          <p:spPr>
            <a:xfrm>
              <a:off x="4616799" y="15414035"/>
              <a:ext cx="2013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Third order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BF9033D-75DA-37A2-11C1-3DEE2E614341}"/>
                </a:ext>
              </a:extLst>
            </p:cNvPr>
            <p:cNvSpPr txBox="1"/>
            <p:nvPr/>
          </p:nvSpPr>
          <p:spPr>
            <a:xfrm>
              <a:off x="6380776" y="15449893"/>
              <a:ext cx="8461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Fourth</a:t>
              </a:r>
            </a:p>
            <a:p>
              <a:r>
                <a:rPr lang="en-US" dirty="0"/>
                <a:t>order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EA5DD1D-90EB-F845-2B13-EA8D4E0C01C1}"/>
              </a:ext>
            </a:extLst>
          </p:cNvPr>
          <p:cNvSpPr txBox="1"/>
          <p:nvPr/>
        </p:nvSpPr>
        <p:spPr>
          <a:xfrm>
            <a:off x="27105708" y="3131091"/>
            <a:ext cx="12545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spectra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AC3573-CDDD-0A9B-9D10-82FC92A779B5}"/>
              </a:ext>
            </a:extLst>
          </p:cNvPr>
          <p:cNvSpPr txBox="1"/>
          <p:nvPr/>
        </p:nvSpPr>
        <p:spPr>
          <a:xfrm>
            <a:off x="35061653" y="3355564"/>
            <a:ext cx="3233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Local image </a:t>
            </a:r>
            <a:r>
              <a:rPr lang="en-US" sz="2800" dirty="0" err="1"/>
              <a:t>statsitics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99786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FCD9E-5A8B-E9F4-43EF-6E6173205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353961"/>
            <a:ext cx="32918400" cy="3402332"/>
          </a:xfrm>
        </p:spPr>
        <p:txBody>
          <a:bodyPr/>
          <a:lstStyle/>
          <a:p>
            <a:r>
              <a:rPr lang="en-US" dirty="0"/>
              <a:t>Methods</a:t>
            </a:r>
            <a:r>
              <a:rPr lang="en-US" baseline="0" dirty="0"/>
              <a:t> Pipeline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692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507</TotalTime>
  <Words>787</Words>
  <Application>Microsoft Office PowerPoint</Application>
  <PresentationFormat>Custom</PresentationFormat>
  <Paragraphs>112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Office Theme</vt:lpstr>
      <vt:lpstr>Overview A</vt:lpstr>
      <vt:lpstr>Overview B</vt:lpstr>
      <vt:lpstr>Methods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D Victor</dc:creator>
  <cp:lastModifiedBy>Jonathan D Victor</cp:lastModifiedBy>
  <cp:revision>18</cp:revision>
  <dcterms:created xsi:type="dcterms:W3CDTF">2023-01-04T18:24:18Z</dcterms:created>
  <dcterms:modified xsi:type="dcterms:W3CDTF">2023-05-04T14:49:30Z</dcterms:modified>
</cp:coreProperties>
</file>